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c9ca0cb8bc4122" /><Relationship Type="http://schemas.openxmlformats.org/officeDocument/2006/relationships/extended-properties" Target="/docProps/app.xml" Id="Ra75ee6d2eb54430c" /><Relationship Type="http://schemas.openxmlformats.org/officeDocument/2006/relationships/officeDocument" Target="/ppt/presentation.xml" Id="Ra30033413a0745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046ef10a794f04"/>
  </p:sldMasterIdLst>
  <p:notesMasterIdLst>
    <p:notesMasterId xmlns:r="http://schemas.openxmlformats.org/officeDocument/2006/relationships" r:id="Rb797eaaf24ca4cf1"/>
  </p:notesMasterIdLst>
  <p:sldIdLst>
    <p:sldId xmlns:r="http://schemas.openxmlformats.org/officeDocument/2006/relationships" id="256" r:id="R01b537461add426f"/>
    <p:sldId xmlns:r="http://schemas.openxmlformats.org/officeDocument/2006/relationships" id="257" r:id="R77fddb1a93444a11"/>
    <p:sldId xmlns:r="http://schemas.openxmlformats.org/officeDocument/2006/relationships" id="258" r:id="Ra45031c78ed84d0b"/>
    <p:sldId xmlns:r="http://schemas.openxmlformats.org/officeDocument/2006/relationships" id="259" r:id="R49e9d15780fa4d70"/>
    <p:sldId xmlns:r="http://schemas.openxmlformats.org/officeDocument/2006/relationships" id="260" r:id="Rb94085f6c3674003"/>
    <p:sldId xmlns:r="http://schemas.openxmlformats.org/officeDocument/2006/relationships" id="261" r:id="R59c25a3bc28a407e"/>
    <p:sldId xmlns:r="http://schemas.openxmlformats.org/officeDocument/2006/relationships" id="262" r:id="R2dbcc508af9446bd"/>
    <p:sldId xmlns:r="http://schemas.openxmlformats.org/officeDocument/2006/relationships" id="263" r:id="R93a52e807c6e45ce"/>
    <p:sldId xmlns:r="http://schemas.openxmlformats.org/officeDocument/2006/relationships" id="264" r:id="Re7599dc9e91e448f"/>
    <p:sldId xmlns:r="http://schemas.openxmlformats.org/officeDocument/2006/relationships" id="265" r:id="Rb8cd5ff59f294e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4b5e881a15438b" /><Relationship Type="http://schemas.openxmlformats.org/officeDocument/2006/relationships/slideMaster" Target="/ppt/slideMasters/slideMaster1.xml" Id="R4b046ef10a794f04" /><Relationship Type="http://schemas.openxmlformats.org/officeDocument/2006/relationships/notesMaster" Target="/ppt/notesMasters/notesMaster1.xml" Id="Rb797eaaf24ca4cf1" /><Relationship Type="http://schemas.openxmlformats.org/officeDocument/2006/relationships/presProps" Target="/ppt/presProps.xml" Id="Reac04f67f517483e" /><Relationship Type="http://schemas.openxmlformats.org/officeDocument/2006/relationships/tableStyles" Target="/ppt/tableStyles.xml" Id="R5460fa99ba5e4b96" /><Relationship Type="http://schemas.openxmlformats.org/officeDocument/2006/relationships/slide" Target="/ppt/slides/slide1.xml" Id="R01b537461add426f" /><Relationship Type="http://schemas.openxmlformats.org/officeDocument/2006/relationships/slide" Target="/ppt/slides/slide2.xml" Id="R77fddb1a93444a11" /><Relationship Type="http://schemas.openxmlformats.org/officeDocument/2006/relationships/slide" Target="/ppt/slides/slide3.xml" Id="Ra45031c78ed84d0b" /><Relationship Type="http://schemas.openxmlformats.org/officeDocument/2006/relationships/slide" Target="/ppt/slides/slide4.xml" Id="R49e9d15780fa4d70" /><Relationship Type="http://schemas.openxmlformats.org/officeDocument/2006/relationships/slide" Target="/ppt/slides/slide5.xml" Id="Rb94085f6c3674003" /><Relationship Type="http://schemas.openxmlformats.org/officeDocument/2006/relationships/slide" Target="/ppt/slides/slide6.xml" Id="R59c25a3bc28a407e" /><Relationship Type="http://schemas.openxmlformats.org/officeDocument/2006/relationships/slide" Target="/ppt/slides/slide7.xml" Id="R2dbcc508af9446bd" /><Relationship Type="http://schemas.openxmlformats.org/officeDocument/2006/relationships/slide" Target="/ppt/slides/slide8.xml" Id="R93a52e807c6e45ce" /><Relationship Type="http://schemas.openxmlformats.org/officeDocument/2006/relationships/slide" Target="/ppt/slides/slide9.xml" Id="Re7599dc9e91e448f" /><Relationship Type="http://schemas.openxmlformats.org/officeDocument/2006/relationships/slide" Target="/ppt/slides/slide10.xml" Id="Rb8cd5ff59f294e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81cb39f34e4f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57a605e0044f2e" /><Relationship Type="http://schemas.openxmlformats.org/officeDocument/2006/relationships/notesMaster" Target="/ppt/notesMasters/notesMaster1.xml" Id="Ra9e389e116d14c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771bb02c3e418e" /><Relationship Type="http://schemas.openxmlformats.org/officeDocument/2006/relationships/notesMaster" Target="/ppt/notesMasters/notesMaster1.xml" Id="Rc282f618460948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0fd6fff6e9436d" /><Relationship Type="http://schemas.openxmlformats.org/officeDocument/2006/relationships/notesMaster" Target="/ppt/notesMasters/notesMaster1.xml" Id="R41e909098eed49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4590843f42422f" /><Relationship Type="http://schemas.openxmlformats.org/officeDocument/2006/relationships/notesMaster" Target="/ppt/notesMasters/notesMaster1.xml" Id="R76cc360ed59e45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97a35e5bc64e6e" /><Relationship Type="http://schemas.openxmlformats.org/officeDocument/2006/relationships/notesMaster" Target="/ppt/notesMasters/notesMaster1.xml" Id="R8b2d776dd68649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e29cbc47f947bd" /><Relationship Type="http://schemas.openxmlformats.org/officeDocument/2006/relationships/notesMaster" Target="/ppt/notesMasters/notesMaster1.xml" Id="R0e1fa68978f94e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b973339d624d8e" /><Relationship Type="http://schemas.openxmlformats.org/officeDocument/2006/relationships/notesMaster" Target="/ppt/notesMasters/notesMaster1.xml" Id="R31d2ba51ecb94b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9d7dac3cd5434d" /><Relationship Type="http://schemas.openxmlformats.org/officeDocument/2006/relationships/notesMaster" Target="/ppt/notesMasters/notesMaster1.xml" Id="Raef4a394e6884e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c52782f6f446f6" /><Relationship Type="http://schemas.openxmlformats.org/officeDocument/2006/relationships/notesMaster" Target="/ppt/notesMasters/notesMaster1.xml" Id="R65207b7ef2eb47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406900d12a4598" /><Relationship Type="http://schemas.openxmlformats.org/officeDocument/2006/relationships/notesMaster" Target="/ppt/notesMasters/notesMaster1.xml" Id="R72df592f4f9442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来源位置：A01 00_说明与口径、06_资本充足率、07_压力测试假设、08_组合筛选；A02；A03。</a:t>
            </a:r>
          </a:p>
          <a:p xmlns:a="http://schemas.openxmlformats.org/drawingml/2006/main">
            <a:r>
              <a:t>案例规则：封面仅陈述任务边界，不承载评分计算。</a:t>
            </a:r>
          </a:p>
          <a:p xmlns:a="http://schemas.openxmlformats.org/drawingml/2006/main">
            <a:r>
              <a:t>计算/变换：核对日期、集团合并口径、加权法、8%计划与ALCO汇报对象。</a:t>
            </a:r>
          </a:p>
          <a:p xmlns:a="http://schemas.openxmlformats.org/drawingml/2006/main">
            <a:r>
              <a:t>复核结论：封面字段齐全，案例事实与假设边界清楚。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来源位置：A01 01、04至08工作表；A02第1至6页；A03第1至2页。</a:t>
            </a:r>
          </a:p>
          <a:p xmlns:a="http://schemas.openxmlformats.org/drawingml/2006/main">
            <a:r>
              <a:t>案例规则：第6页静态层不使用A03；组合层执行集中度附加与Gamma=2预算。</a:t>
            </a:r>
          </a:p>
          <a:p xmlns:a="http://schemas.openxmlformats.org/drawingml/2006/main">
            <a:r>
              <a:t>计算/变换：静态重度11.12805940%；P0加附加后11.3915925497%；P^rob按Gamma=2双路径复核。</a:t>
            </a:r>
          </a:p>
          <a:p xmlns:a="http://schemas.openxmlformats.org/drawingml/2006/main">
            <a:r>
              <a:t>复核结论：P^rob鲁棒CET1率11.5000533270%，只能作为严格条件性上限。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来源位置：A01 01_盈利质量。</a:t>
            </a:r>
          </a:p>
          <a:p xmlns:a="http://schemas.openxmlformats.org/drawingml/2006/main">
            <a:r>
              <a:t>案例规则：金额用百万元原值计算，展示时换算亿元。</a:t>
            </a:r>
          </a:p>
          <a:p xmlns:a="http://schemas.openxmlformats.org/drawingml/2006/main">
            <a:r>
              <a:t>计算/变换：核心经常性收入=净利息收入+净手续费；简化拨备前利润=营业净收入-营业费用。</a:t>
            </a:r>
          </a:p>
          <a:p xmlns:a="http://schemas.openxmlformats.org/drawingml/2006/main">
            <a:r>
              <a:t>复核结论：核心经常性收入-5.16%，利润韧性不能掩盖核心收入收缩。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来源位置：A01 02_息差量价。</a:t>
            </a:r>
          </a:p>
          <a:p xmlns:a="http://schemas.openxmlformats.org/drawingml/2006/main">
            <a:r>
              <a:t>案例规则：量价桥使用原生可编辑堆积柱形瀑布桥，并保留起点、两项贡献、净变化和终点。</a:t>
            </a:r>
          </a:p>
          <a:p xmlns:a="http://schemas.openxmlformats.org/drawingml/2006/main">
            <a:r>
              <a:t>计算/变换：2,146.69+152.44-186.36=2,112.77亿元；净变化-33.92亿元。</a:t>
            </a:r>
          </a:p>
          <a:p xmlns:a="http://schemas.openxmlformats.org/drawingml/2006/main">
            <a:r>
              <a:t>复核结论：规模正贡献不足以抵消价格损失，桥接勾稽一致。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来源位置：A01 03_五级分类、04_产品风险、05_Stage与拨备。</a:t>
            </a:r>
          </a:p>
          <a:p xmlns:a="http://schemas.openxmlformats.org/drawingml/2006/main">
            <a:r>
              <a:t>案例规则：使用集团合并口径，Stage口径为摊余成本贷款。</a:t>
            </a:r>
          </a:p>
          <a:p xmlns:a="http://schemas.openxmlformats.org/drawingml/2006/main">
            <a:r>
              <a:t>计算/变换：Stage 2+3占比3.832%升至4.293%；零售不良+45.48亿元，对公-5.17亿元。</a:t>
            </a:r>
          </a:p>
          <a:p xmlns:a="http://schemas.openxmlformats.org/drawingml/2006/main">
            <a:r>
              <a:t>复核结论：全行不良净恶化来自零售，且零售不良增速高于贷款增速。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来源位置：A01 04、06、07；A02第1页。</a:t>
            </a:r>
          </a:p>
          <a:p xmlns:a="http://schemas.openxmlformats.org/drawingml/2006/main">
            <a:r>
              <a:t>案例规则：静态层新增贷款统一65% RWA密度，不计新贷NII/EL；A03明确不适用。</a:t>
            </a:r>
          </a:p>
          <a:p xmlns:a="http://schemas.openxmlformats.org/drawingml/2006/main">
            <a:r>
              <a:t>计算/变换：中度新增不良31,317.486百万元，CET1率11.54885058%；重度新增不良62,634.972百万元，CET1率11.12805940%。</a:t>
            </a:r>
          </a:p>
          <a:p xmlns:a="http://schemas.openxmlformats.org/drawingml/2006/main">
            <a:r>
              <a:t>复核结论：中度勉强守线，重度缺口322.827亿元；图中11.50%为真实数据系列。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来源位置：A01 08_组合筛选；A02第4页；A03第1页。</a:t>
            </a:r>
          </a:p>
          <a:p xmlns:a="http://schemas.openxmlformats.org/drawingml/2006/main">
            <a:r>
              <a:t>案例规则：组合层RWA_add=30%×G×MAX(信用卡+消费-8%,0)，筛选顺序为业务约束、资本底线、K。</a:t>
            </a:r>
          </a:p>
          <a:p xmlns:a="http://schemas.openxmlformats.org/drawingml/2006/main">
            <a:r>
              <a:t>计算/变换：P0/P1/P2/P3附加RWA为19030.5312/0/44636.2812/6612.7824百万元；仅P1资本过线。</a:t>
            </a:r>
          </a:p>
          <a:p xmlns:a="http://schemas.openxmlformats.org/drawingml/2006/main">
            <a:r>
              <a:t>复核结论：P0、P2业务失败；P3资本失败；P1唯一入选候选。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来源位置：A01 08_组合筛选；A02第4、6页；A03第1至2页。</a:t>
            </a:r>
          </a:p>
          <a:p xmlns:a="http://schemas.openxmlformats.org/drawingml/2006/main">
            <a:r>
              <a:t>案例规则：连续与网格均按K高、总计划RWA低、附加RWA低、按揭权重高的四级顺序；Gamma=2为执行预算。</a:t>
            </a:r>
          </a:p>
          <a:p xmlns:a="http://schemas.openxmlformats.org/drawingml/2006/main">
            <a:r>
              <a:t>计算/变换：P^cont权重32.017583/0/51.444003/8/0/1.047571/7.490843；Gamma=0网格旧P*加附加后失守，重算P^nom；Gamma=2得到P^rob。</a:t>
            </a:r>
          </a:p>
          <a:p xmlns:a="http://schemas.openxmlformats.org/drawingml/2006/main">
            <a:r>
              <a:t>复核结论：P^rob权重30/0/51/4.5/1/0/13.5，鲁棒H=4.49910386百万元，双路径一致。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来源位置：A01 08_组合筛选；A02第4、6页；A03第2页。</a:t>
            </a:r>
          </a:p>
          <a:p xmlns:a="http://schemas.openxmlformats.org/drawingml/2006/main">
            <a:r>
              <a:t>案例规则：每个Gamma在0.5pp全网格上独立优化；U_Gamma取最大的Gamma个u_i，Gamma=2选对公和按揭。</a:t>
            </a:r>
          </a:p>
          <a:p xmlns:a="http://schemas.openxmlformats.org/drawingml/2006/main">
            <a:r>
              <a:t>计算/变换：Gamma=0/1/2/3的K为50.1469332/48.284332824/46.23437028/45.374708568亿元；鲁棒H为0.201769088/0.079157081/0.044991039/0.050639457亿元。</a:t>
            </a:r>
          </a:p>
          <a:p xmlns:a="http://schemas.openxmlformats.org/drawingml/2006/main">
            <a:r>
              <a:t>复核结论：Gamma=2稳健成本3.91256292亿元；鲁棒率11.5000533270%，满足指定预算且仍需条件管理。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来源位置：A01 07至08；A02第2至3、6页；A03第2页。</a:t>
            </a:r>
          </a:p>
          <a:p xmlns:a="http://schemas.openxmlformats.org/drawingml/2006/main">
            <a:r>
              <a:t>案例规则：代码匹配使用未舍入值；管理执行对象为Gamma=2的P^rob。</a:t>
            </a:r>
          </a:p>
          <a:p xmlns:a="http://schemas.openxmlformats.org/drawingml/2006/main">
            <a:r>
              <a:t>计算/变换：P0命中F3+A3+C3；P^rob名义与鲁棒口径均在11.50%至11.75%之间，命中F3+A3+C2。</a:t>
            </a:r>
          </a:p>
          <a:p xmlns:a="http://schemas.openxmlformats.org/drawingml/2006/main">
            <a:r>
              <a:t>复核结论：P^rob只能作为8%条件性上限，三项固定行动、责任部门和时限均逐字复核。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d8ae8dc7d4a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adcf8bb37a443c" /><Relationship Type="http://schemas.openxmlformats.org/officeDocument/2006/relationships/slideLayout" Target="/ppt/slideLayouts/slideLayout1.xml" Id="Rb2510884044842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510884044842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a9ab9d0d04731" /><Relationship Type="http://schemas.openxmlformats.org/officeDocument/2006/relationships/notesSlide" Target="/ppt/notesSlides/notesSlide1.xml" Id="Rae501df8fc084b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cc2a107ce412b" /><Relationship Type="http://schemas.openxmlformats.org/officeDocument/2006/relationships/notesSlide" Target="/ppt/notesSlides/notesSlide2.xml" Id="Rdd461a2b0fbe43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c03892c2a4870" /><Relationship Type="http://schemas.openxmlformats.org/officeDocument/2006/relationships/chart" Target="/ppt/slides/charts/chart1.xml" Id="Raf39734508084cde" /><Relationship Type="http://schemas.openxmlformats.org/officeDocument/2006/relationships/notesSlide" Target="/ppt/notesSlides/notesSlide3.xml" Id="R927130a7a3e54d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58a3a21304259" /><Relationship Type="http://schemas.openxmlformats.org/officeDocument/2006/relationships/chart" Target="/ppt/slides/charts/chart2.xml" Id="R06d7f162041c4247" /><Relationship Type="http://schemas.openxmlformats.org/officeDocument/2006/relationships/notesSlide" Target="/ppt/notesSlides/notesSlide4.xml" Id="R0cca105dda2f4f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42393a82b4256" /><Relationship Type="http://schemas.openxmlformats.org/officeDocument/2006/relationships/chart" Target="/ppt/slides/charts/chart3.xml" Id="R3aae3677543a4c5d" /><Relationship Type="http://schemas.openxmlformats.org/officeDocument/2006/relationships/notesSlide" Target="/ppt/notesSlides/notesSlide5.xml" Id="Ra3211b34ffdd4d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b724861f5455a" /><Relationship Type="http://schemas.openxmlformats.org/officeDocument/2006/relationships/chart" Target="/ppt/slides/charts/chart4.xml" Id="R5c45b6fcef1249e7" /><Relationship Type="http://schemas.openxmlformats.org/officeDocument/2006/relationships/notesSlide" Target="/ppt/notesSlides/notesSlide6.xml" Id="R8065ef32b16349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d7608e618409d" /><Relationship Type="http://schemas.openxmlformats.org/officeDocument/2006/relationships/notesSlide" Target="/ppt/notesSlides/notesSlide7.xml" Id="Rfcb88f5ea6694e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e038011cf4515" /><Relationship Type="http://schemas.openxmlformats.org/officeDocument/2006/relationships/notesSlide" Target="/ppt/notesSlides/notesSlide8.xml" Id="Rcf64c749808540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af61354af452a" /><Relationship Type="http://schemas.openxmlformats.org/officeDocument/2006/relationships/chart" Target="/ppt/slides/charts/chart5.xml" Id="Rad9cca1b59764c91" /><Relationship Type="http://schemas.openxmlformats.org/officeDocument/2006/relationships/notesSlide" Target="/ppt/notesSlides/notesSlide9.xml" Id="Rebd4ed3512c749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62141d8c44045" /><Relationship Type="http://schemas.openxmlformats.org/officeDocument/2006/relationships/notesSlide" Target="/ppt/notesSlides/notesSlide10.xml" Id="R5b0aa3b15dbd4bb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2023</c:v>
          </c:tx>
          <c:spPr>
            <a:solidFill xmlns:a="http://schemas.openxmlformats.org/drawingml/2006/main">
              <a:srgbClr val="93A9BA"/>
            </a:solidFill>
          </c:spPr>
          <c:cat>
            <c:strRef>
              <c:f>'Data'!$A$2:$A$4</c:f>
              <c:strCache>
                <c:ptCount val="3"/>
                <c:pt idx="0">
                  <c:v>净利息收入</c:v>
                </c:pt>
                <c:pt idx="1">
                  <c:v>净手续费</c:v>
                </c:pt>
                <c:pt idx="2">
                  <c:v>其他净非息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2146.69</c:v>
                </c:pt>
                <c:pt idx="1">
                  <c:v>841.08</c:v>
                </c:pt>
                <c:pt idx="2">
                  <c:v>403.01</c:v>
                </c:pt>
              </c:numCache>
            </c:numRef>
          </c:val>
        </c:ser>
        <c:ser>
          <c:idx val="1"/>
          <c:order val="1"/>
          <c:tx>
            <c:v>2024</c:v>
          </c:tx>
          <c:spPr>
            <a:solidFill xmlns:a="http://schemas.openxmlformats.org/drawingml/2006/main">
              <a:srgbClr val="22639B"/>
            </a:solidFill>
          </c:spPr>
          <c:cat>
            <c:strRef>
              <c:f>'Data'!$C$2:$C$4</c:f>
              <c:strCache>
                <c:ptCount val="3"/>
                <c:pt idx="0">
                  <c:v>净利息收入</c:v>
                </c:pt>
                <c:pt idx="1">
                  <c:v>净手续费</c:v>
                </c:pt>
                <c:pt idx="2">
                  <c:v>其他净非息</c:v>
                </c:pt>
              </c:strCache>
            </c:strRef>
          </c:cat>
          <c:val>
            <c:numRef>
              <c:f>'Data'!$D$2:$D$4</c:f>
              <c:numCache>
                <c:formatCode>General</c:formatCode>
                <c:ptCount val="3"/>
                <c:pt idx="0">
                  <c:v>2112.77</c:v>
                </c:pt>
                <c:pt idx="1">
                  <c:v>720.94</c:v>
                </c:pt>
                <c:pt idx="2">
                  <c:v>537.5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6223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6223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桥接基座</c:v>
          </c:tx>
          <c:spPr>
            <a:noFill/>
            <a:ln w="0">
              <a:noFill/>
            </a:ln>
          </c:spPr>
          <c:cat>
            <c:strRef>
              <c:f>'Data'!$A$2:$A$6</c:f>
              <c:strCache>
                <c:ptCount val="5"/>
                <c:pt idx="0">
                  <c:v>2023 NII</c:v>
                </c:pt>
                <c:pt idx="1">
                  <c:v>规模因素</c:v>
                </c:pt>
                <c:pt idx="2">
                  <c:v>利率因素</c:v>
                </c:pt>
                <c:pt idx="3">
                  <c:v>净变化</c:v>
                </c:pt>
                <c:pt idx="4">
                  <c:v>2024 NII</c:v>
                </c:pt>
              </c:strCache>
            </c:strRef>
          </c:cat>
          <c:val>
            <c:numRef>
              <c:f>'Data'!$B$2:$B$6</c:f>
              <c:numCache>
                <c:formatCode>0</c:formatCode>
                <c:ptCount val="5"/>
                <c:pt idx="0">
                  <c:v>0</c:v>
                </c:pt>
                <c:pt idx="1">
                  <c:v>2146.69</c:v>
                </c:pt>
                <c:pt idx="2">
                  <c:v>2112.77</c:v>
                </c:pt>
                <c:pt idx="3">
                  <c:v>2112.77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v>正贡献</c:v>
          </c:tx>
          <c:spPr>
            <a:solidFill>
              <a:srgbClr val="237A5A"/>
            </a:solidFill>
          </c:spPr>
          <c:cat>
            <c:strRef>
              <c:f>'Data'!$C$2:$C$6</c:f>
              <c:strCache>
                <c:ptCount val="5"/>
                <c:pt idx="0">
                  <c:v>2023 NII</c:v>
                </c:pt>
                <c:pt idx="1">
                  <c:v>规模因素</c:v>
                </c:pt>
                <c:pt idx="2">
                  <c:v>利率因素</c:v>
                </c:pt>
                <c:pt idx="3">
                  <c:v>净变化</c:v>
                </c:pt>
                <c:pt idx="4">
                  <c:v>2024 NII</c:v>
                </c:pt>
              </c:strCache>
            </c:strRef>
          </c:cat>
          <c:val>
            <c:numRef>
              <c:f>'Data'!$D$2:$D$6</c:f>
              <c:numCache>
                <c:formatCode>0</c:formatCode>
                <c:ptCount val="5"/>
                <c:pt idx="0">
                  <c:v>0</c:v>
                </c:pt>
                <c:pt idx="1">
                  <c:v>152.44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v>负贡献</c:v>
          </c:tx>
          <c:spPr>
            <a:solidFill>
              <a:srgbClr val="BC3D3D"/>
            </a:solidFill>
          </c:spPr>
          <c:cat>
            <c:strRef>
              <c:f>'Data'!$E$2:$E$6</c:f>
              <c:strCache>
                <c:ptCount val="5"/>
                <c:pt idx="0">
                  <c:v>2023 NII</c:v>
                </c:pt>
                <c:pt idx="1">
                  <c:v>规模因素</c:v>
                </c:pt>
                <c:pt idx="2">
                  <c:v>利率因素</c:v>
                </c:pt>
                <c:pt idx="3">
                  <c:v>净变化</c:v>
                </c:pt>
                <c:pt idx="4">
                  <c:v>2024 NII</c:v>
                </c:pt>
              </c:strCache>
            </c:strRef>
          </c:cat>
          <c:val>
            <c:numRef>
              <c:f>'Data'!$F$2:$F$6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186.36</c:v>
                </c:pt>
                <c:pt idx="3">
                  <c:v>33.92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v>总额</c:v>
          </c:tx>
          <c:spPr>
            <a:solidFill>
              <a:srgbClr val="22639B"/>
            </a:solidFill>
          </c:spPr>
          <c:cat>
            <c:strRef>
              <c:f>'Data'!$G$2:$G$6</c:f>
              <c:strCache>
                <c:ptCount val="5"/>
                <c:pt idx="0">
                  <c:v>2023 NII</c:v>
                </c:pt>
                <c:pt idx="1">
                  <c:v>规模因素</c:v>
                </c:pt>
                <c:pt idx="2">
                  <c:v>利率因素</c:v>
                </c:pt>
                <c:pt idx="3">
                  <c:v>净变化</c:v>
                </c:pt>
                <c:pt idx="4">
                  <c:v>2024 NII</c:v>
                </c:pt>
              </c:strCache>
            </c:strRef>
          </c:cat>
          <c:val>
            <c:numRef>
              <c:f>'Data'!$H$2:$H$6</c:f>
              <c:numCache>
                <c:formatCode>0</c:formatCode>
                <c:ptCount val="5"/>
                <c:pt idx="0">
                  <c:v>2146.69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2112.77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 sz="1125">
                  <a:solidFill>
                    <a:srgbClr val="16223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500"/>
          <c:min val="0"/>
        </c:scaling>
        <c:delete val="0"/>
        <c:axPos val="l"/>
        <c:numFmt formatCode="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0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2023</c:v>
          </c:tx>
          <c:spPr>
            <a:solidFill xmlns:a="http://schemas.openxmlformats.org/drawingml/2006/main">
              <a:srgbClr val="93A9BA"/>
            </a:solidFill>
          </c:spPr>
          <c:cat>
            <c:strRef>
              <c:f>'Data'!$A$2:$A$3</c:f>
              <c:strCache>
                <c:ptCount val="2"/>
                <c:pt idx="0">
                  <c:v>零售不良</c:v>
                </c:pt>
                <c:pt idx="1">
                  <c:v>对公不良</c:v>
                </c:pt>
              </c:strCache>
            </c:strRef>
          </c:cat>
          <c:val>
            <c:numRef>
              <c:f>'Data'!$B$2:$B$3</c:f>
              <c:numCache>
                <c:formatCode>General</c:formatCode>
                <c:ptCount val="2"/>
                <c:pt idx="0">
                  <c:v>305.87</c:v>
                </c:pt>
                <c:pt idx="1">
                  <c:v>309.92</c:v>
                </c:pt>
              </c:numCache>
            </c:numRef>
          </c:val>
        </c:ser>
        <c:ser>
          <c:idx val="1"/>
          <c:order val="1"/>
          <c:tx>
            <c:v>2024</c:v>
          </c:tx>
          <c:spPr>
            <a:solidFill xmlns:a="http://schemas.openxmlformats.org/drawingml/2006/main">
              <a:srgbClr val="DD7A00"/>
            </a:solidFill>
          </c:spPr>
          <c:cat>
            <c:strRef>
              <c:f>'Data'!$C$2:$C$3</c:f>
              <c:strCache>
                <c:ptCount val="2"/>
                <c:pt idx="0">
                  <c:v>零售不良</c:v>
                </c:pt>
                <c:pt idx="1">
                  <c:v>对公不良</c:v>
                </c:pt>
              </c:strCache>
            </c:strRef>
          </c:cat>
          <c:val>
            <c:numRef>
              <c:f>'Data'!$D$2:$D$3</c:f>
              <c:numCache>
                <c:formatCode>General</c:formatCode>
                <c:ptCount val="2"/>
                <c:pt idx="0">
                  <c:v>351.35</c:v>
                </c:pt>
                <c:pt idx="1">
                  <c:v>304.75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6223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6223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加权法CET1率</c:v>
          </c:tx>
          <c:spPr>
            <a:ln xmlns:a="http://schemas.openxmlformats.org/drawingml/2006/main" w="28575">
              <a:solidFill>
                <a:srgbClr val="22639B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2639B"/>
              </a:solidFill>
            </c:spPr>
          </c:marker>
          <c:cat>
            <c:strRef>
              <c:f>'Data'!$A$2:$A$4</c:f>
              <c:strCache>
                <c:ptCount val="3"/>
                <c:pt idx="0">
                  <c:v>基准</c:v>
                </c:pt>
                <c:pt idx="1">
                  <c:v>中度</c:v>
                </c:pt>
                <c:pt idx="2">
                  <c:v>重度</c:v>
                </c:pt>
              </c:strCache>
            </c:strRef>
          </c:cat>
          <c:val>
            <c:numRef>
              <c:f>'Data'!$B$2:$B$4</c:f>
              <c:numCache>
                <c:formatCode>0.00</c:formatCode>
                <c:ptCount val="3"/>
                <c:pt idx="0">
                  <c:v>12.43</c:v>
                </c:pt>
                <c:pt idx="1">
                  <c:v>11.54885058</c:v>
                </c:pt>
                <c:pt idx="2">
                  <c:v>11.1280594</c:v>
                </c:pt>
              </c:numCache>
            </c:numRef>
          </c:val>
        </c:ser>
        <c:ser>
          <c:idx val="1"/>
          <c:order val="1"/>
          <c:tx>
            <c:v>内部底线11.50%</c:v>
          </c:tx>
          <c:spPr>
            <a:ln xmlns:a="http://schemas.openxmlformats.org/drawingml/2006/main" w="28575">
              <a:solidFill>
                <a:srgbClr val="BC3D3D"/>
              </a:solidFill>
            </a:ln>
          </c:spPr>
          <c:marker>
            <c:symbol val="none"/>
          </c:marker>
          <c:cat>
            <c:strRef>
              <c:f>'Data'!$C$2:$C$4</c:f>
              <c:strCache>
                <c:ptCount val="3"/>
                <c:pt idx="0">
                  <c:v>基准</c:v>
                </c:pt>
                <c:pt idx="1">
                  <c:v>中度</c:v>
                </c:pt>
                <c:pt idx="2">
                  <c:v>重度</c:v>
                </c:pt>
              </c:strCache>
            </c:strRef>
          </c:cat>
          <c:val>
            <c:numRef>
              <c:f>'Data'!$D$2:$D$4</c:f>
              <c:numCache>
                <c:formatCode>0.00</c:formatCode>
                <c:ptCount val="3"/>
                <c:pt idx="0">
                  <c:v>11.5</c:v>
                </c:pt>
                <c:pt idx="1">
                  <c:v>11.5</c:v>
                </c:pt>
                <c:pt idx="2">
                  <c:v>11.5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6223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.6"/>
          <c:min val="10.8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3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6223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Gamma前沿</c:v>
          </c:tx>
          <c:spPr>
            <a:ln xmlns:a="http://schemas.openxmlformats.org/drawingml/2006/main" w="23813">
              <a:solidFill>
                <a:srgbClr val="22639B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2639B"/>
              </a:solidFill>
            </c:spPr>
          </c:marker>
          <c:xVal>
            <c:numRef>
              <c:f>'Data'!$A$2:$A$5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xVal>
          <c:yVal>
            <c:numRef>
              <c:f>'Data'!$B$2:$B$5</c:f>
              <c:numCache>
                <c:formatCode>0.0</c:formatCode>
                <c:ptCount val="4"/>
                <c:pt idx="0">
                  <c:v>50.1469332</c:v>
                </c:pt>
                <c:pt idx="1">
                  <c:v>48.284332824</c:v>
                </c:pt>
                <c:pt idx="2">
                  <c:v>46.23437028</c:v>
                </c:pt>
                <c:pt idx="3">
                  <c:v>45.374708568</c:v>
                </c:pt>
              </c:numCache>
            </c:numRef>
          </c:yVal>
        </c:ser>
        <c:ser>
          <c:idx val="1"/>
          <c:order val="1"/>
          <c:tx>
            <c:v>P^rob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2"/>
            <c:spPr>
              <a:noFill xmlns:a="http://schemas.openxmlformats.org/drawingml/2006/main"/>
            </c:spPr>
          </c:marker>
          <c:xVal>
            <c:numRef>
              <c:f>'Data'!$C$2:$C$2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'Data'!$D$2:$D$2</c:f>
              <c:numCache>
                <c:formatCode>0.0</c:formatCode>
                <c:ptCount val="1"/>
                <c:pt idx="0">
                  <c:v>46.23437028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6223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1"/>
          <c:min val="44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3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62231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3283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2" name="">
            <a:extLst>
              <a:ext uri="{FF2B5EF4-FFF2-40B4-BE49-F238E27FC236}">
                <ns2:creationId id="{70A43031-1BFD-4BE9-B254-0D4B7751F6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0" cy="114300"/>
          </a:xfrm>
          <a:prstGeom prst="rect">
            <a:avLst/>
          </a:prstGeom>
          <a:solidFill>
            <a:srgbClr val="2BA4B4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E618C897-FD2B-4959-B31D-CFF6D636D7F1}"/>
              </a:ext>
            </a:extLst>
          </p:cNvPr>
          <p:cNvSpPr>
            <a:spLocks noGrp="1"/>
          </p:cNvSpPr>
          <p:nvPr/>
        </p:nvSpPr>
        <p:spPr>
          <a:xfrm>
            <a:off x="3238500" y="0"/>
            <a:ext cx="8953500" cy="114300"/>
          </a:xfrm>
          <a:prstGeom prst="rect">
            <a:avLst/>
          </a:prstGeom>
          <a:solidFill>
            <a:srgbClr val="DD7A00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544CCC50-C066-49A5-A372-46D17A57BF20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rPr>
              <a:t>ALCO / CAPITAL REVIEW</a:t>
            </a:r>
          </a:p>
        </p:txBody>
      </p:sp>
      <p:sp>
        <p:nvSpPr>
          <p:cNvPr id="4" name="">
            <a:extLst>
              <a:ext uri="{FF2B5EF4-FFF2-40B4-BE49-F238E27FC236}">
                <ns2:creationId id="{A2FBCDE9-AE8A-453F-838D-959C9208EFAF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7524750" cy="1257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招商银行 2024｜盈利韧性、资本压力与组合重配</a:t>
            </a:r>
          </a:p>
        </p:txBody>
      </p:sp>
      <p:sp>
        <p:nvSpPr>
          <p:cNvPr id="5" name="">
            <a:extLst>
              <a:ext uri="{FF2B5EF4-FFF2-40B4-BE49-F238E27FC236}">
                <ns2:creationId id="{42325C68-D922-4A8F-8504-909225F4F8AD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7143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rPr>
              <a:t>2025年8%贷款计划能否通过产品组合重配，在重度情景下守住资本底线？</a:t>
            </a:r>
          </a:p>
        </p:txBody>
      </p:sp>
      <p:sp>
        <p:nvSpPr>
          <p:cNvPr id="6" name="">
            <a:extLst>
              <a:ext uri="{FF2B5EF4-FFF2-40B4-BE49-F238E27FC236}">
                <ns2:creationId id="{EEA712D8-13FC-4928-8A5A-E1F2BB773C13}"/>
              </a:ext>
            </a:extLst>
          </p:cNvPr>
          <p:cNvSpPr>
            <a:spLocks noGrp="1"/>
          </p:cNvSpPr>
          <p:nvPr/>
        </p:nvSpPr>
        <p:spPr>
          <a:xfrm>
            <a:off x="8382000" y="933450"/>
            <a:ext cx="2857500" cy="3333750"/>
          </a:xfrm>
          <a:prstGeom prst="roundRect">
            <a:avLst>
              <a:gd name="adj" fmla="val 2667"/>
            </a:avLst>
          </a:prstGeom>
          <a:solidFill>
            <a:srgbClr val="1D3C57"/>
          </a:solidFill>
          <a:ln w="19050">
            <a:solidFill>
              <a:srgbClr val="365772"/>
            </a:solidFill>
          </a:ln>
        </p:spPr>
      </p:sp>
      <p:sp>
        <p:nvSpPr>
          <p:cNvPr id="7" name="">
            <a:extLst>
              <a:ext uri="{FF2B5EF4-FFF2-40B4-BE49-F238E27FC236}">
                <ns2:creationId id="{3BF09721-0742-4A45-9381-443F154FAFA4}"/>
              </a:ext>
            </a:extLst>
          </p:cNvPr>
          <p:cNvSpPr>
            <a:spLocks noGrp="1"/>
          </p:cNvSpPr>
          <p:nvPr/>
        </p:nvSpPr>
        <p:spPr>
          <a:xfrm>
            <a:off x="8705850" y="1257300"/>
            <a:ext cx="2209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rPr>
              <a:t>计划贷款增长</a:t>
            </a:r>
          </a:p>
        </p:txBody>
      </p:sp>
      <p:sp>
        <p:nvSpPr>
          <p:cNvPr id="8" name="">
            <a:extLst>
              <a:ext uri="{FF2B5EF4-FFF2-40B4-BE49-F238E27FC236}">
                <ns2:creationId id="{A3788DEF-FDBE-4BA5-9908-D851CB60E429}"/>
              </a:ext>
            </a:extLst>
          </p:cNvPr>
          <p:cNvSpPr>
            <a:spLocks noGrp="1"/>
          </p:cNvSpPr>
          <p:nvPr/>
        </p:nvSpPr>
        <p:spPr>
          <a:xfrm>
            <a:off x="8705850" y="1638300"/>
            <a:ext cx="2209800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6300" b="1">
                <a:solidFill>
                  <a:srgbClr val="DD7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DD7A00"/>
                </a:solidFill>
                <a:latin typeface="Microsoft YaHei"/>
                <a:ea typeface="Microsoft YaHei"/>
                <a:cs typeface="Microsoft YaHei"/>
              </a:rPr>
              <a:t>8%</a:t>
            </a:r>
          </a:p>
        </p:txBody>
      </p:sp>
      <p:sp>
        <p:nvSpPr>
          <p:cNvPr id="9" name="">
            <a:extLst>
              <a:ext uri="{FF2B5EF4-FFF2-40B4-BE49-F238E27FC236}">
                <ns2:creationId id="{308739B8-9491-4A90-995E-91B19F4BA93A}"/>
              </a:ext>
            </a:extLst>
          </p:cNvPr>
          <p:cNvSpPr>
            <a:spLocks noGrp="1"/>
          </p:cNvSpPr>
          <p:nvPr/>
        </p:nvSpPr>
        <p:spPr>
          <a:xfrm>
            <a:off x="8763000" y="2895600"/>
            <a:ext cx="2095500" cy="0"/>
          </a:xfrm>
          <a:prstGeom prst="line">
            <a:avLst/>
          </a:prstGeom>
          <a:noFill/>
          <a:ln w="9525">
            <a:solidFill>
              <a:srgbClr val="587186"/>
            </a:solidFill>
          </a:ln>
        </p:spPr>
      </p:sp>
      <p:sp>
        <p:nvSpPr>
          <p:cNvPr id="10" name="">
            <a:extLst>
              <a:ext uri="{FF2B5EF4-FFF2-40B4-BE49-F238E27FC236}">
                <ns2:creationId id="{B8D5A122-40F4-493A-B698-740D69046582}"/>
              </a:ext>
            </a:extLst>
          </p:cNvPr>
          <p:cNvSpPr>
            <a:spLocks noGrp="1"/>
          </p:cNvSpPr>
          <p:nvPr/>
        </p:nvSpPr>
        <p:spPr>
          <a:xfrm>
            <a:off x="8705850" y="3067050"/>
            <a:ext cx="8953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rPr>
              <a:t>管理底线</a:t>
            </a:r>
          </a:p>
        </p:txBody>
      </p:sp>
      <p:sp>
        <p:nvSpPr>
          <p:cNvPr id="11" name="">
            <a:extLst>
              <a:ext uri="{FF2B5EF4-FFF2-40B4-BE49-F238E27FC236}">
                <ns2:creationId id="{51676DA2-5691-43C8-A480-A64D87D16C91}"/>
              </a:ext>
            </a:extLst>
          </p:cNvPr>
          <p:cNvSpPr>
            <a:spLocks noGrp="1"/>
          </p:cNvSpPr>
          <p:nvPr/>
        </p:nvSpPr>
        <p:spPr>
          <a:xfrm>
            <a:off x="9677400" y="3009900"/>
            <a:ext cx="1257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CET1 11.50%</a:t>
            </a:r>
          </a:p>
        </p:txBody>
      </p:sp>
      <p:sp>
        <p:nvSpPr>
          <p:cNvPr id="12" name="">
            <a:extLst>
              <a:ext uri="{FF2B5EF4-FFF2-40B4-BE49-F238E27FC236}">
                <ns2:creationId id="{D0EF3E71-0178-43E4-AAC0-6C12E9A4094C}"/>
              </a:ext>
            </a:extLst>
          </p:cNvPr>
          <p:cNvSpPr>
            <a:spLocks noGrp="1"/>
          </p:cNvSpPr>
          <p:nvPr/>
        </p:nvSpPr>
        <p:spPr>
          <a:xfrm>
            <a:off x="8705850" y="3371850"/>
            <a:ext cx="22098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13" b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rPr>
              <a:t>判断流程</a:t>
            </a:r>
          </a:p>
        </p:txBody>
      </p:sp>
      <p:sp>
        <p:nvSpPr>
          <p:cNvPr id="13" name="">
            <a:extLst>
              <a:ext uri="{FF2B5EF4-FFF2-40B4-BE49-F238E27FC236}">
                <ns2:creationId id="{42F21E4F-8396-4FDB-9F5C-67E5E56028B2}"/>
              </a:ext>
            </a:extLst>
          </p:cNvPr>
          <p:cNvSpPr>
            <a:spLocks noGrp="1"/>
          </p:cNvSpPr>
          <p:nvPr/>
        </p:nvSpPr>
        <p:spPr>
          <a:xfrm>
            <a:off x="8705850" y="3600450"/>
            <a:ext cx="2209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35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rPr>
              <a:t>双情景 + 候选筛选 + Gamma鲁棒网格</a:t>
            </a:r>
          </a:p>
        </p:txBody>
      </p:sp>
      <p:sp>
        <p:nvSpPr>
          <p:cNvPr id="14" name="">
            <a:extLst>
              <a:ext uri="{FF2B5EF4-FFF2-40B4-BE49-F238E27FC236}">
                <ns2:creationId id="{913EB4FC-5F95-4B20-966D-AAD3D95293AB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553700" cy="876300"/>
          </a:xfrm>
          <a:prstGeom prst="roundRect">
            <a:avLst>
              <a:gd name="adj" fmla="val 8696"/>
            </a:avLst>
          </a:prstGeom>
          <a:solidFill>
            <a:srgbClr val="0F2032"/>
          </a:solidFill>
          <a:ln w="9525">
            <a:solidFill>
              <a:srgbClr val="365772"/>
            </a:solidFill>
          </a:ln>
        </p:spPr>
      </p:sp>
      <p:sp>
        <p:nvSpPr>
          <p:cNvPr id="15" name="">
            <a:extLst>
              <a:ext uri="{FF2B5EF4-FFF2-40B4-BE49-F238E27FC236}">
                <ns2:creationId id="{D6A96EA1-5D3E-4C12-B7B1-18738675DB71}"/>
              </a:ext>
            </a:extLst>
          </p:cNvPr>
          <p:cNvSpPr>
            <a:spLocks noGrp="1"/>
          </p:cNvSpPr>
          <p:nvPr/>
        </p:nvSpPr>
        <p:spPr>
          <a:xfrm>
            <a:off x="914400" y="5276850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75" b="0">
                <a:solidFill>
                  <a:srgbClr val="9F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FB4C5"/>
                </a:solidFill>
                <a:latin typeface="Microsoft YaHei"/>
                <a:ea typeface="Microsoft YaHei"/>
                <a:cs typeface="Microsoft YaHei"/>
              </a:rPr>
              <a:t>2024年度｜数据截至</a:t>
            </a:r>
          </a:p>
        </p:txBody>
      </p:sp>
      <p:sp>
        <p:nvSpPr>
          <p:cNvPr id="16" name="">
            <a:extLst>
              <a:ext uri="{FF2B5EF4-FFF2-40B4-BE49-F238E27FC236}">
                <ns2:creationId id="{513D12C5-66E5-4A41-B42F-ACB7D235AF42}"/>
              </a:ext>
            </a:extLst>
          </p:cNvPr>
          <p:cNvSpPr>
            <a:spLocks noGrp="1"/>
          </p:cNvSpPr>
          <p:nvPr/>
        </p:nvSpPr>
        <p:spPr>
          <a:xfrm>
            <a:off x="914400" y="5505450"/>
            <a:ext cx="2190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2024年12月31日</a:t>
            </a:r>
          </a:p>
        </p:txBody>
      </p:sp>
      <p:sp>
        <p:nvSpPr>
          <p:cNvPr id="17" name="">
            <a:extLst>
              <a:ext uri="{FF2B5EF4-FFF2-40B4-BE49-F238E27FC236}">
                <ns2:creationId id="{E02AA4C7-065C-4ADE-A3E4-68CD7770D2B2}"/>
              </a:ext>
            </a:extLst>
          </p:cNvPr>
          <p:cNvSpPr>
            <a:spLocks noGrp="1"/>
          </p:cNvSpPr>
          <p:nvPr/>
        </p:nvSpPr>
        <p:spPr>
          <a:xfrm>
            <a:off x="3638550" y="5276850"/>
            <a:ext cx="1047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75" b="0">
                <a:solidFill>
                  <a:srgbClr val="9F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FB4C5"/>
                </a:solidFill>
                <a:latin typeface="Microsoft YaHei"/>
                <a:ea typeface="Microsoft YaHei"/>
                <a:cs typeface="Microsoft YaHei"/>
              </a:rPr>
              <a:t>分析口径</a:t>
            </a:r>
          </a:p>
        </p:txBody>
      </p:sp>
      <p:sp>
        <p:nvSpPr>
          <p:cNvPr id="18" name="">
            <a:extLst>
              <a:ext uri="{FF2B5EF4-FFF2-40B4-BE49-F238E27FC236}">
                <ns2:creationId id="{FD2DA60C-B076-4DCF-90E0-A0D458C300C6}"/>
              </a:ext>
            </a:extLst>
          </p:cNvPr>
          <p:cNvSpPr>
            <a:spLocks noGrp="1"/>
          </p:cNvSpPr>
          <p:nvPr/>
        </p:nvSpPr>
        <p:spPr>
          <a:xfrm>
            <a:off x="3638550" y="5505450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本集团合并口径｜资本采用加权法</a:t>
            </a:r>
          </a:p>
        </p:txBody>
      </p:sp>
      <p:sp>
        <p:nvSpPr>
          <p:cNvPr id="19" name="">
            <a:extLst>
              <a:ext uri="{FF2B5EF4-FFF2-40B4-BE49-F238E27FC236}">
                <ns2:creationId id="{6B963D21-463C-4AF4-8D5E-DA1FDF24965A}"/>
              </a:ext>
            </a:extLst>
          </p:cNvPr>
          <p:cNvSpPr>
            <a:spLocks noGrp="1"/>
          </p:cNvSpPr>
          <p:nvPr/>
        </p:nvSpPr>
        <p:spPr>
          <a:xfrm>
            <a:off x="7467600" y="5276850"/>
            <a:ext cx="1047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75" b="0">
                <a:solidFill>
                  <a:srgbClr val="9F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FB4C5"/>
                </a:solidFill>
                <a:latin typeface="Microsoft YaHei"/>
                <a:ea typeface="Microsoft YaHei"/>
                <a:cs typeface="Microsoft YaHei"/>
              </a:rPr>
              <a:t>汇报对象</a:t>
            </a:r>
          </a:p>
        </p:txBody>
      </p:sp>
      <p:sp>
        <p:nvSpPr>
          <p:cNvPr id="20" name="">
            <a:extLst>
              <a:ext uri="{FF2B5EF4-FFF2-40B4-BE49-F238E27FC236}">
                <ns2:creationId id="{9A0385C2-B49F-4D65-AA46-098473E9F7C5}"/>
              </a:ext>
            </a:extLst>
          </p:cNvPr>
          <p:cNvSpPr>
            <a:spLocks noGrp="1"/>
          </p:cNvSpPr>
          <p:nvPr/>
        </p:nvSpPr>
        <p:spPr>
          <a:xfrm>
            <a:off x="7467600" y="550545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资产负债管理委员会</a:t>
            </a:r>
          </a:p>
        </p:txBody>
      </p:sp>
      <p:sp>
        <p:nvSpPr>
          <p:cNvPr id="21" name="">
            <a:extLst>
              <a:ext uri="{FF2B5EF4-FFF2-40B4-BE49-F238E27FC236}">
                <ns2:creationId id="{F77A64EA-5850-467C-894F-B89C644024AE}"/>
              </a:ext>
            </a:extLst>
          </p:cNvPr>
          <p:cNvSpPr>
            <a:spLocks noGrp="1"/>
          </p:cNvSpPr>
          <p:nvPr/>
        </p:nvSpPr>
        <p:spPr>
          <a:xfrm>
            <a:off x="9525000" y="6438900"/>
            <a:ext cx="2000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93A9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3A9BA"/>
                </a:solidFill>
                <a:latin typeface="Microsoft YaHei"/>
                <a:ea typeface="Microsoft YaHei"/>
                <a:cs typeface="Microsoft YaHei"/>
              </a:rPr>
              <a:t>TASK 190492  |  1 / 10</a:t>
            </a:r>
          </a:p>
        </p:txBody>
      </p:sp>
    </p:spTree>
    <p:extLst>
      <p:ext uri="{BB962C8B-B14F-4D97-AF65-F5344CB8AC3E}">
        <ns3:creationId val="1027228186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0" name="">
            <a:extLst>
              <a:ext uri="{FF2B5EF4-FFF2-40B4-BE49-F238E27FC236}">
                <ns2:creationId id="{8C378D16-C1E3-4DD0-B775-4EA7E5C031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48000" cy="95250"/>
          </a:xfrm>
          <a:prstGeom prst="rect">
            <a:avLst/>
          </a:prstGeom>
          <a:solidFill>
            <a:srgbClr val="2BA4B4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7B77A220-0048-4B66-807A-CF7E934D0752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144000" cy="95250"/>
          </a:xfrm>
          <a:prstGeom prst="rect">
            <a:avLst/>
          </a:prstGeom>
          <a:solidFill>
            <a:srgbClr val="13283F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7A9F6588-E351-45B4-B09B-03DFE92359C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rPr>
              <a:t>02  EXECUTIVE VERDICT</a:t>
            </a:r>
          </a:p>
        </p:txBody>
      </p:sp>
      <p:sp>
        <p:nvSpPr>
          <p:cNvPr id="4" name="">
            <a:extLst>
              <a:ext uri="{FF2B5EF4-FFF2-40B4-BE49-F238E27FC236}">
                <ns2:creationId id="{12E8C46E-8E65-4F53-A94C-FC243BDA221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核心结论与决策建议</a:t>
            </a:r>
          </a:p>
        </p:txBody>
      </p:sp>
      <p:sp>
        <p:nvSpPr>
          <p:cNvPr id="5" name="">
            <a:extLst>
              <a:ext uri="{FF2B5EF4-FFF2-40B4-BE49-F238E27FC236}">
                <ns2:creationId id="{557D23CE-D252-46A5-81A4-947F679B1ECA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集中度附加使原结构P0进一步失守；Gamma=2鲁棒组合守线但仅余0.005333bp。</a:t>
            </a:r>
          </a:p>
        </p:txBody>
      </p:sp>
      <p:sp>
        <p:nvSpPr>
          <p:cNvPr id="6" name="">
            <a:extLst>
              <a:ext uri="{FF2B5EF4-FFF2-40B4-BE49-F238E27FC236}">
                <ns2:creationId id="{36CC6B7B-566C-49A3-9BDA-27FE3681B045}"/>
              </a:ext>
            </a:extLst>
          </p:cNvPr>
          <p:cNvSpPr>
            <a:spLocks noGrp="1"/>
          </p:cNvSpPr>
          <p:nvPr/>
        </p:nvSpPr>
        <p:spPr>
          <a:xfrm>
            <a:off x="10906125" y="342900"/>
            <a:ext cx="6953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2 / 10</a:t>
            </a:r>
          </a:p>
        </p:txBody>
      </p:sp>
      <p:sp>
        <p:nvSpPr>
          <p:cNvPr id="7" name="">
            <a:extLst>
              <a:ext uri="{FF2B5EF4-FFF2-40B4-BE49-F238E27FC236}">
                <ns2:creationId id="{B88E3D7B-FAC1-4EAE-864B-FE8CBCCF366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13283F"/>
          </a:solidFill>
          <a:ln w="0">
            <a:solidFill>
              <a:srgbClr val="13283F"/>
            </a:solidFill>
          </a:ln>
        </p:spPr>
      </p:sp>
      <p:sp>
        <p:nvSpPr>
          <p:cNvPr id="8" name="">
            <a:extLst>
              <a:ext uri="{FF2B5EF4-FFF2-40B4-BE49-F238E27FC236}">
                <ns2:creationId id="{DB7AE994-38C9-4C7F-9CF1-402957A02ED8}"/>
              </a:ext>
            </a:extLst>
          </p:cNvPr>
          <p:cNvSpPr>
            <a:spLocks noGrp="1"/>
          </p:cNvSpPr>
          <p:nvPr/>
        </p:nvSpPr>
        <p:spPr>
          <a:xfrm>
            <a:off x="800100" y="1752600"/>
            <a:ext cx="1143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rPr>
              <a:t>决策结论</a:t>
            </a:r>
          </a:p>
        </p:txBody>
      </p:sp>
      <p:sp>
        <p:nvSpPr>
          <p:cNvPr id="9" name="">
            <a:extLst>
              <a:ext uri="{FF2B5EF4-FFF2-40B4-BE49-F238E27FC236}">
                <ns2:creationId id="{A30D8B55-820D-43C1-BAF4-253A6FFD843B}"/>
              </a:ext>
            </a:extLst>
          </p:cNvPr>
          <p:cNvSpPr>
            <a:spLocks noGrp="1"/>
          </p:cNvSpPr>
          <p:nvPr/>
        </p:nvSpPr>
        <p:spPr>
          <a:xfrm>
            <a:off x="2038350" y="1685925"/>
            <a:ext cx="9239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6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候选层：P0/P2业务失败、P3资本失败，仅P1入选；集中度附加使P0的CET1降至11.3915925%。</a:t>
            </a:r>
          </a:p>
        </p:txBody>
      </p:sp>
      <p:sp>
        <p:nvSpPr>
          <p:cNvPr id="10" name="">
            <a:extLst>
              <a:ext uri="{FF2B5EF4-FFF2-40B4-BE49-F238E27FC236}">
                <ns2:creationId id="{E7C9D44A-497D-4DE2-A072-903EB8D59ED4}"/>
              </a:ext>
            </a:extLst>
          </p:cNvPr>
          <p:cNvSpPr>
            <a:spLocks noGrp="1"/>
          </p:cNvSpPr>
          <p:nvPr/>
        </p:nvSpPr>
        <p:spPr>
          <a:xfrm>
            <a:off x="2038350" y="1914525"/>
            <a:ext cx="9239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优化层：名义网格P^nom的K=50.1469亿元；执行Gamma=2的P^rob，鲁棒率11.5000533%，8%只能作严格条件性上限。</a:t>
            </a:r>
          </a:p>
        </p:txBody>
      </p:sp>
      <p:sp>
        <p:nvSpPr>
          <p:cNvPr id="11" name="">
            <a:extLst>
              <a:ext uri="{FF2B5EF4-FFF2-40B4-BE49-F238E27FC236}">
                <ns2:creationId id="{C6E5DBAE-E497-4A30-A110-596021CCFEC3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337185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7DFE7"/>
            </a:solidFill>
          </a:ln>
        </p:spPr>
      </p:sp>
      <p:sp>
        <p:nvSpPr>
          <p:cNvPr id="12" name="">
            <a:extLst>
              <a:ext uri="{FF2B5EF4-FFF2-40B4-BE49-F238E27FC236}">
                <ns2:creationId id="{E87C4DE7-42F2-4E1C-903F-DCBFE0E9200B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57150" cy="1447800"/>
          </a:xfrm>
          <a:prstGeom prst="roundRect">
            <a:avLst>
              <a:gd name="adj" fmla="val 50000"/>
            </a:avLst>
          </a:prstGeom>
          <a:solidFill>
            <a:srgbClr val="22639B"/>
          </a:solidFill>
          <a:ln w="0">
            <a:solidFill>
              <a:srgbClr val="22639B"/>
            </a:solidFill>
          </a:ln>
        </p:spPr>
      </p:sp>
      <p:sp>
        <p:nvSpPr>
          <p:cNvPr id="13" name="">
            <a:extLst>
              <a:ext uri="{FF2B5EF4-FFF2-40B4-BE49-F238E27FC236}">
                <ns2:creationId id="{7C2C3AEA-074E-4824-A56A-7A49B1470374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30289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盈利质量</a:t>
            </a:r>
          </a:p>
        </p:txBody>
      </p:sp>
      <p:sp>
        <p:nvSpPr>
          <p:cNvPr id="14" name="">
            <a:extLst>
              <a:ext uri="{FF2B5EF4-FFF2-40B4-BE49-F238E27FC236}">
                <ns2:creationId id="{AC0E25C3-2574-4EE3-87C7-D615363F398D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3028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rPr>
              <a:t>-5.16%</a:t>
            </a:r>
          </a:p>
        </p:txBody>
      </p:sp>
      <p:sp>
        <p:nvSpPr>
          <p:cNvPr id="15" name="">
            <a:extLst>
              <a:ext uri="{FF2B5EF4-FFF2-40B4-BE49-F238E27FC236}">
                <ns2:creationId id="{6471EE1E-1EE8-4E43-9D61-D4594935C61F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30289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核心经常性收入仍缩减5.16%；归母净利润+1.22%。</a:t>
            </a:r>
          </a:p>
        </p:txBody>
      </p:sp>
      <p:sp>
        <p:nvSpPr>
          <p:cNvPr id="16" name="">
            <a:extLst>
              <a:ext uri="{FF2B5EF4-FFF2-40B4-BE49-F238E27FC236}">
                <ns2:creationId id="{DF593068-D007-45DA-8BCB-B34D5FD14BD8}"/>
              </a:ext>
            </a:extLst>
          </p:cNvPr>
          <p:cNvSpPr>
            <a:spLocks noGrp="1"/>
          </p:cNvSpPr>
          <p:nvPr/>
        </p:nvSpPr>
        <p:spPr>
          <a:xfrm>
            <a:off x="4171950" y="2457450"/>
            <a:ext cx="337185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7DFE7"/>
            </a:solidFill>
          </a:ln>
        </p:spPr>
      </p:sp>
      <p:sp>
        <p:nvSpPr>
          <p:cNvPr id="17" name="">
            <a:extLst>
              <a:ext uri="{FF2B5EF4-FFF2-40B4-BE49-F238E27FC236}">
                <ns2:creationId id="{DA116CF7-74AF-42B9-BC68-3B52608B88D5}"/>
              </a:ext>
            </a:extLst>
          </p:cNvPr>
          <p:cNvSpPr>
            <a:spLocks noGrp="1"/>
          </p:cNvSpPr>
          <p:nvPr/>
        </p:nvSpPr>
        <p:spPr>
          <a:xfrm>
            <a:off x="4171950" y="2457450"/>
            <a:ext cx="57150" cy="1447800"/>
          </a:xfrm>
          <a:prstGeom prst="roundRect">
            <a:avLst>
              <a:gd name="adj" fmla="val 50000"/>
            </a:avLst>
          </a:prstGeom>
          <a:solidFill>
            <a:srgbClr val="DD7A00"/>
          </a:solidFill>
          <a:ln w="0">
            <a:solidFill>
              <a:srgbClr val="DD7A00"/>
            </a:solidFill>
          </a:ln>
        </p:spPr>
      </p:sp>
      <p:sp>
        <p:nvSpPr>
          <p:cNvPr id="18" name="">
            <a:extLst>
              <a:ext uri="{FF2B5EF4-FFF2-40B4-BE49-F238E27FC236}">
                <ns2:creationId id="{FDF916BB-686E-49B2-A784-2817FE4E1A62}"/>
              </a:ext>
            </a:extLst>
          </p:cNvPr>
          <p:cNvSpPr>
            <a:spLocks noGrp="1"/>
          </p:cNvSpPr>
          <p:nvPr/>
        </p:nvSpPr>
        <p:spPr>
          <a:xfrm>
            <a:off x="4343400" y="2571750"/>
            <a:ext cx="30289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风险迁徙</a:t>
            </a:r>
          </a:p>
        </p:txBody>
      </p:sp>
      <p:sp>
        <p:nvSpPr>
          <p:cNvPr id="19" name="">
            <a:extLst>
              <a:ext uri="{FF2B5EF4-FFF2-40B4-BE49-F238E27FC236}">
                <ns2:creationId id="{D7B69F2B-598B-45E9-98C6-7E49061EE202}"/>
              </a:ext>
            </a:extLst>
          </p:cNvPr>
          <p:cNvSpPr>
            <a:spLocks noGrp="1"/>
          </p:cNvSpPr>
          <p:nvPr/>
        </p:nvSpPr>
        <p:spPr>
          <a:xfrm>
            <a:off x="4343400" y="2781300"/>
            <a:ext cx="3028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DD7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D7A00"/>
                </a:solidFill>
                <a:latin typeface="Microsoft YaHei"/>
                <a:ea typeface="Microsoft YaHei"/>
                <a:cs typeface="Microsoft YaHei"/>
              </a:rPr>
              <a:t>+46bp</a:t>
            </a:r>
          </a:p>
        </p:txBody>
      </p:sp>
      <p:sp>
        <p:nvSpPr>
          <p:cNvPr id="20" name="">
            <a:extLst>
              <a:ext uri="{FF2B5EF4-FFF2-40B4-BE49-F238E27FC236}">
                <ns2:creationId id="{73EDDE63-B7B3-4373-B591-E2FBEC9FDD4E}"/>
              </a:ext>
            </a:extLst>
          </p:cNvPr>
          <p:cNvSpPr>
            <a:spLocks noGrp="1"/>
          </p:cNvSpPr>
          <p:nvPr/>
        </p:nvSpPr>
        <p:spPr>
          <a:xfrm>
            <a:off x="4343400" y="3524250"/>
            <a:ext cx="30289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二、三阶段合计占4.29%（+46bp）；零售不良占比53.55%。</a:t>
            </a:r>
          </a:p>
        </p:txBody>
      </p:sp>
      <p:sp>
        <p:nvSpPr>
          <p:cNvPr id="21" name="">
            <a:extLst>
              <a:ext uri="{FF2B5EF4-FFF2-40B4-BE49-F238E27FC236}">
                <ns2:creationId id="{060A9F37-6F0B-44CD-81A0-16F8D7F10E53}"/>
              </a:ext>
            </a:extLst>
          </p:cNvPr>
          <p:cNvSpPr>
            <a:spLocks noGrp="1"/>
          </p:cNvSpPr>
          <p:nvPr/>
        </p:nvSpPr>
        <p:spPr>
          <a:xfrm>
            <a:off x="7734300" y="2457450"/>
            <a:ext cx="38481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7DFE7"/>
            </a:solidFill>
          </a:ln>
        </p:spPr>
      </p:sp>
      <p:sp>
        <p:nvSpPr>
          <p:cNvPr id="22" name="">
            <a:extLst>
              <a:ext uri="{FF2B5EF4-FFF2-40B4-BE49-F238E27FC236}">
                <ns2:creationId id="{65E2E1DC-9C12-409C-80D4-44FCA558BAF4}"/>
              </a:ext>
            </a:extLst>
          </p:cNvPr>
          <p:cNvSpPr>
            <a:spLocks noGrp="1"/>
          </p:cNvSpPr>
          <p:nvPr/>
        </p:nvSpPr>
        <p:spPr>
          <a:xfrm>
            <a:off x="7734300" y="2457450"/>
            <a:ext cx="57150" cy="1447800"/>
          </a:xfrm>
          <a:prstGeom prst="roundRect">
            <a:avLst>
              <a:gd name="adj" fmla="val 50000"/>
            </a:avLst>
          </a:prstGeom>
          <a:solidFill>
            <a:srgbClr val="DD7A00"/>
          </a:solidFill>
          <a:ln w="0">
            <a:solidFill>
              <a:srgbClr val="DD7A00"/>
            </a:solidFill>
          </a:ln>
        </p:spPr>
      </p:sp>
      <p:sp>
        <p:nvSpPr>
          <p:cNvPr id="23" name="">
            <a:extLst>
              <a:ext uri="{FF2B5EF4-FFF2-40B4-BE49-F238E27FC236}">
                <ns2:creationId id="{3E99AD02-F3DE-493E-BBD8-4715CFF1F861}"/>
              </a:ext>
            </a:extLst>
          </p:cNvPr>
          <p:cNvSpPr>
            <a:spLocks noGrp="1"/>
          </p:cNvSpPr>
          <p:nvPr/>
        </p:nvSpPr>
        <p:spPr>
          <a:xfrm>
            <a:off x="7905750" y="2571750"/>
            <a:ext cx="35052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P^rob鲁棒资本余量</a:t>
            </a:r>
          </a:p>
        </p:txBody>
      </p:sp>
      <p:sp>
        <p:nvSpPr>
          <p:cNvPr id="24" name="">
            <a:extLst>
              <a:ext uri="{FF2B5EF4-FFF2-40B4-BE49-F238E27FC236}">
                <ns2:creationId id="{1C151104-457E-4EC8-A904-1F9E2AEB0DA4}"/>
              </a:ext>
            </a:extLst>
          </p:cNvPr>
          <p:cNvSpPr>
            <a:spLocks noGrp="1"/>
          </p:cNvSpPr>
          <p:nvPr/>
        </p:nvSpPr>
        <p:spPr>
          <a:xfrm>
            <a:off x="7905750" y="2781300"/>
            <a:ext cx="35052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DD7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D7A00"/>
                </a:solidFill>
                <a:latin typeface="Microsoft YaHei"/>
                <a:ea typeface="Microsoft YaHei"/>
                <a:cs typeface="Microsoft YaHei"/>
              </a:rPr>
              <a:t>+0.005333bp</a:t>
            </a:r>
          </a:p>
        </p:txBody>
      </p:sp>
      <p:sp>
        <p:nvSpPr>
          <p:cNvPr id="25" name="">
            <a:extLst>
              <a:ext uri="{FF2B5EF4-FFF2-40B4-BE49-F238E27FC236}">
                <ns2:creationId id="{5AB35BF9-722B-48EB-9CC9-88FE3231CC72}"/>
              </a:ext>
            </a:extLst>
          </p:cNvPr>
          <p:cNvSpPr>
            <a:spLocks noGrp="1"/>
          </p:cNvSpPr>
          <p:nvPr/>
        </p:nvSpPr>
        <p:spPr>
          <a:xfrm>
            <a:off x="7905750" y="3524250"/>
            <a:ext cx="35052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Gamma=2后仅高于11.50%底线0.045亿元。</a:t>
            </a:r>
          </a:p>
        </p:txBody>
      </p:sp>
      <p:graphicFrame>
        <p:nvGraphicFramePr>
          <p:cNvPr id="55" name="Table_Page2_Audit_1" descr="决策摘要表：比较静态重度、P0、P^nom和Gamma=2的P^rob资本结果，来源A01、A02与A03。"/>
          <p:cNvGraphicFramePr/>
          <p:nvPr/>
        </p:nvGraphicFramePr>
        <p:xfrm>
          <a:off x="609600" y="4038600"/>
          <a:ext cx="10972800" cy="1809750"/>
        </p:xfrm>
        <a:graphic>
          <a:graphicData uri="http://schemas.openxmlformats.org/drawingml/2006/table">
            <a:tbl>
              <a:tblPr/>
              <a:tblGrid>
                <a:gridCol w="1809750"/>
                <a:gridCol w="1809750"/>
                <a:gridCol w="2286000"/>
                <a:gridCol w="2381250"/>
                <a:gridCol w="2686050"/>
              </a:tblGrid>
              <a:tr h="361950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方案与情景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压力后CET1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相对11.50%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关键边界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对8%计划的判断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静态重度（65%）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BC3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11.1280594%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-37.194bp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第6页不适用A03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不可行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P0重度（含附加）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BC3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11.3915925%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-10.840745bp / -92.54亿元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附加RWA 190.31亿元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不可行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P^nom（Gamma=0）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11.5002390%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+0.023900bp / +0.20亿元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名义网格最优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未覆盖参数风险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P^rob（Gamma=2）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 b="1">
                          <a:solidFill>
                            <a:srgbClr val="DD7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11.5000533%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+0.005333bp / +0.045亿元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11.75%缺口210.88亿元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严格条件性上限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</a:tr>
            </a:tbl>
          </a:graphicData>
        </a:graphic>
      </p:graphicFrame>
      <p:sp>
        <p:nvSpPr>
          <p:cNvPr id="27" name="">
            <a:extLst>
              <a:ext uri="{FF2B5EF4-FFF2-40B4-BE49-F238E27FC236}">
                <ns2:creationId id="{C331F835-6795-4B41-992E-9F911CADCB0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0"/>
          </a:xfrm>
          <a:prstGeom prst="line">
            <a:avLst/>
          </a:prstGeom>
          <a:noFill/>
          <a:ln w="9525">
            <a:solidFill>
              <a:srgbClr val="D7DFE7"/>
            </a:solidFill>
          </a:ln>
        </p:spPr>
      </p:sp>
      <p:sp>
        <p:nvSpPr>
          <p:cNvPr id="28" name="">
            <a:extLst>
              <a:ext uri="{FF2B5EF4-FFF2-40B4-BE49-F238E27FC236}">
                <ns2:creationId id="{24EF39D6-F4C7-43DF-8187-A2DEE31F9D66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952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数据来源：附件A01的01、04至08工作表；附件A02第1至6页；附件A03第1至2页。案例阈值与预算均为附件假设。</a:t>
            </a:r>
          </a:p>
        </p:txBody>
      </p:sp>
      <p:sp>
        <p:nvSpPr>
          <p:cNvPr id="29" name="">
            <a:extLst>
              <a:ext uri="{FF2B5EF4-FFF2-40B4-BE49-F238E27FC236}">
                <ns2:creationId id="{579CF8E9-009B-4538-AC55-34AFED50E5F5}"/>
              </a:ext>
            </a:extLst>
          </p:cNvPr>
          <p:cNvSpPr>
            <a:spLocks noGrp="1"/>
          </p:cNvSpPr>
          <p:nvPr/>
        </p:nvSpPr>
        <p:spPr>
          <a:xfrm>
            <a:off x="10191750" y="6543675"/>
            <a:ext cx="13906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TASK 190492  |  2</a:t>
            </a:r>
          </a:p>
        </p:txBody>
      </p:sp>
    </p:spTree>
    <p:extLst>
      <p:ext uri="{BB962C8B-B14F-4D97-AF65-F5344CB8AC3E}">
        <ns3:creationId val="1611126408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6" name="">
            <a:extLst>
              <a:ext uri="{FF2B5EF4-FFF2-40B4-BE49-F238E27FC236}">
                <ns2:creationId id="{E90200D0-B95B-4EEE-B529-BC44372680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48000" cy="95250"/>
          </a:xfrm>
          <a:prstGeom prst="rect">
            <a:avLst/>
          </a:prstGeom>
          <a:solidFill>
            <a:srgbClr val="2BA4B4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A9DB1123-546D-41E9-8A9E-F5D5FA008D33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144000" cy="95250"/>
          </a:xfrm>
          <a:prstGeom prst="rect">
            <a:avLst/>
          </a:prstGeom>
          <a:solidFill>
            <a:srgbClr val="13283F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33A6DC0F-DD2D-4DE6-97E3-1669CC907E7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rPr>
              <a:t>03  EARNINGS QUALITY</a:t>
            </a:r>
          </a:p>
        </p:txBody>
      </p:sp>
      <p:sp>
        <p:nvSpPr>
          <p:cNvPr id="4" name="">
            <a:extLst>
              <a:ext uri="{FF2B5EF4-FFF2-40B4-BE49-F238E27FC236}">
                <ns2:creationId id="{75ABF948-9271-4909-815D-E19009661CE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盈利质量：利润增长掩盖核心收入收缩</a:t>
            </a:r>
          </a:p>
        </p:txBody>
      </p:sp>
      <p:sp>
        <p:nvSpPr>
          <p:cNvPr id="5" name="">
            <a:extLst>
              <a:ext uri="{FF2B5EF4-FFF2-40B4-BE49-F238E27FC236}">
                <ns2:creationId id="{E64D9CBB-6396-444F-B1B5-777CA384423B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2024年归母净利润+1.22%，但净利息与手续费两项核心经常性收入合计下降5.16%。</a:t>
            </a:r>
          </a:p>
        </p:txBody>
      </p:sp>
      <p:sp>
        <p:nvSpPr>
          <p:cNvPr id="6" name="">
            <a:extLst>
              <a:ext uri="{FF2B5EF4-FFF2-40B4-BE49-F238E27FC236}">
                <ns2:creationId id="{22C303AE-C640-4F84-B200-BA8781F9F38D}"/>
              </a:ext>
            </a:extLst>
          </p:cNvPr>
          <p:cNvSpPr>
            <a:spLocks noGrp="1"/>
          </p:cNvSpPr>
          <p:nvPr/>
        </p:nvSpPr>
        <p:spPr>
          <a:xfrm>
            <a:off x="10906125" y="342900"/>
            <a:ext cx="6953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3 / 10</a:t>
            </a:r>
          </a:p>
        </p:txBody>
      </p:sp>
      <p:sp>
        <p:nvSpPr>
          <p:cNvPr id="7" name="">
            <a:extLst>
              <a:ext uri="{FF2B5EF4-FFF2-40B4-BE49-F238E27FC236}">
                <ns2:creationId id="{93374514-B52F-4AF4-A99F-98F293DE3B74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65722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7DFE7"/>
            </a:solidFill>
          </a:ln>
        </p:spPr>
      </p:sp>
      <p:sp>
        <p:nvSpPr>
          <p:cNvPr id="8" name="">
            <a:extLst>
              <a:ext uri="{FF2B5EF4-FFF2-40B4-BE49-F238E27FC236}">
                <ns2:creationId id="{8B37B3CB-A8AA-4BB0-80A4-DA10C8D6AE88}"/>
              </a:ext>
            </a:extLst>
          </p:cNvPr>
          <p:cNvSpPr>
            <a:spLocks noGrp="1"/>
          </p:cNvSpPr>
          <p:nvPr/>
        </p:nvSpPr>
        <p:spPr>
          <a:xfrm>
            <a:off x="838200" y="18288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收入结构｜人民币亿元</a:t>
            </a:r>
          </a:p>
        </p:txBody>
      </p:sp>
      <p:graphicFrame>
        <p:nvGraphicFramePr>
          <p:cNvPr id="44" name="Chart_Page3_EarningsQuality" descr="原生簇状柱形图：比较2023和2024年净利息收入、净手续费及佣金收入、其他净非息收入，单位人民币亿元，来源A01 01_盈利质量。"/>
          <p:cNvGraphicFramePr/>
          <p:nvPr/>
        </p:nvGraphicFramePr>
        <p:xfrm>
          <a:off x="781050" y="2190750"/>
          <a:ext cx="6229350" cy="3257550"/>
        </p:xfrm>
        <a:graphic>
          <a:graphicData uri="http://schemas.openxmlformats.org/drawingml/2006/chart">
            <ns3:chart r:id="Raf39734508084cde"/>
          </a:graphicData>
        </a:graphic>
      </p:graphicFrame>
      <p:sp>
        <p:nvSpPr>
          <p:cNvPr id="10" name="">
            <a:extLst>
              <a:ext uri="{FF2B5EF4-FFF2-40B4-BE49-F238E27FC236}">
                <ns2:creationId id="{8D1ADD7C-FC75-48C3-BDA8-9E36CA9C4CEA}"/>
              </a:ext>
            </a:extLst>
          </p:cNvPr>
          <p:cNvSpPr>
            <a:spLocks noGrp="1"/>
          </p:cNvSpPr>
          <p:nvPr/>
        </p:nvSpPr>
        <p:spPr>
          <a:xfrm>
            <a:off x="7429500" y="1676400"/>
            <a:ext cx="2000250" cy="1219200"/>
          </a:xfrm>
          <a:prstGeom prst="roundRect">
            <a:avLst>
              <a:gd name="adj" fmla="val 6250"/>
            </a:avLst>
          </a:prstGeom>
          <a:solidFill>
            <a:srgbClr val="FCEBEB"/>
          </a:solidFill>
          <a:ln w="9525">
            <a:solidFill>
              <a:srgbClr val="D7DFE7"/>
            </a:solidFill>
          </a:ln>
        </p:spPr>
      </p:sp>
      <p:sp>
        <p:nvSpPr>
          <p:cNvPr id="11" name="">
            <a:extLst>
              <a:ext uri="{FF2B5EF4-FFF2-40B4-BE49-F238E27FC236}">
                <ns2:creationId id="{6AC85207-BB27-4820-BAAB-BC6CEAA0A151}"/>
              </a:ext>
            </a:extLst>
          </p:cNvPr>
          <p:cNvSpPr>
            <a:spLocks noGrp="1"/>
          </p:cNvSpPr>
          <p:nvPr/>
        </p:nvSpPr>
        <p:spPr>
          <a:xfrm>
            <a:off x="7429500" y="1676400"/>
            <a:ext cx="57150" cy="1219200"/>
          </a:xfrm>
          <a:prstGeom prst="roundRect">
            <a:avLst>
              <a:gd name="adj" fmla="val 50000"/>
            </a:avLst>
          </a:prstGeom>
          <a:solidFill>
            <a:srgbClr val="BC3D3D"/>
          </a:solidFill>
          <a:ln w="0">
            <a:solidFill>
              <a:srgbClr val="BC3D3D"/>
            </a:solidFill>
          </a:ln>
        </p:spPr>
      </p:sp>
      <p:sp>
        <p:nvSpPr>
          <p:cNvPr id="12" name="">
            <a:extLst>
              <a:ext uri="{FF2B5EF4-FFF2-40B4-BE49-F238E27FC236}">
                <ns2:creationId id="{4DEF4B65-9F14-4CD9-BCD4-CAEDEF22E2D0}"/>
              </a:ext>
            </a:extLst>
          </p:cNvPr>
          <p:cNvSpPr>
            <a:spLocks noGrp="1"/>
          </p:cNvSpPr>
          <p:nvPr/>
        </p:nvSpPr>
        <p:spPr>
          <a:xfrm>
            <a:off x="7600950" y="1790700"/>
            <a:ext cx="16573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核心经常性收入</a:t>
            </a:r>
          </a:p>
        </p:txBody>
      </p:sp>
      <p:sp>
        <p:nvSpPr>
          <p:cNvPr id="13" name="">
            <a:extLst>
              <a:ext uri="{FF2B5EF4-FFF2-40B4-BE49-F238E27FC236}">
                <ns2:creationId id="{BEFEAF44-D25F-449A-82CE-A39971131BD9}"/>
              </a:ext>
            </a:extLst>
          </p:cNvPr>
          <p:cNvSpPr>
            <a:spLocks noGrp="1"/>
          </p:cNvSpPr>
          <p:nvPr/>
        </p:nvSpPr>
        <p:spPr>
          <a:xfrm>
            <a:off x="7600950" y="2000250"/>
            <a:ext cx="16573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BC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C3D3D"/>
                </a:solidFill>
                <a:latin typeface="Microsoft YaHei"/>
                <a:ea typeface="Microsoft YaHei"/>
                <a:cs typeface="Microsoft YaHei"/>
              </a:rPr>
              <a:t>-5.16%</a:t>
            </a:r>
          </a:p>
        </p:txBody>
      </p:sp>
      <p:sp>
        <p:nvSpPr>
          <p:cNvPr id="14" name="">
            <a:extLst>
              <a:ext uri="{FF2B5EF4-FFF2-40B4-BE49-F238E27FC236}">
                <ns2:creationId id="{B7672923-E70B-4DC0-BB06-8738E181ED22}"/>
              </a:ext>
            </a:extLst>
          </p:cNvPr>
          <p:cNvSpPr>
            <a:spLocks noGrp="1"/>
          </p:cNvSpPr>
          <p:nvPr/>
        </p:nvSpPr>
        <p:spPr>
          <a:xfrm>
            <a:off x="7600950" y="25146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2,833.71亿元</a:t>
            </a:r>
          </a:p>
        </p:txBody>
      </p:sp>
      <p:sp>
        <p:nvSpPr>
          <p:cNvPr id="15" name="">
            <a:extLst>
              <a:ext uri="{FF2B5EF4-FFF2-40B4-BE49-F238E27FC236}">
                <ns2:creationId id="{55388896-A75D-4041-A135-BB7FB993D5B0}"/>
              </a:ext>
            </a:extLst>
          </p:cNvPr>
          <p:cNvSpPr>
            <a:spLocks noGrp="1"/>
          </p:cNvSpPr>
          <p:nvPr/>
        </p:nvSpPr>
        <p:spPr>
          <a:xfrm>
            <a:off x="9582150" y="1676400"/>
            <a:ext cx="2000250" cy="1219200"/>
          </a:xfrm>
          <a:prstGeom prst="roundRect">
            <a:avLst>
              <a:gd name="adj" fmla="val 6250"/>
            </a:avLst>
          </a:prstGeom>
          <a:solidFill>
            <a:srgbClr val="FFF3E5"/>
          </a:solidFill>
          <a:ln w="9525">
            <a:solidFill>
              <a:srgbClr val="D7DFE7"/>
            </a:solidFill>
          </a:ln>
        </p:spPr>
      </p:sp>
      <p:sp>
        <p:nvSpPr>
          <p:cNvPr id="16" name="">
            <a:extLst>
              <a:ext uri="{FF2B5EF4-FFF2-40B4-BE49-F238E27FC236}">
                <ns2:creationId id="{EB98277A-0FB0-40CF-AF5B-69F904378A0E}"/>
              </a:ext>
            </a:extLst>
          </p:cNvPr>
          <p:cNvSpPr>
            <a:spLocks noGrp="1"/>
          </p:cNvSpPr>
          <p:nvPr/>
        </p:nvSpPr>
        <p:spPr>
          <a:xfrm>
            <a:off x="9582150" y="1676400"/>
            <a:ext cx="57150" cy="1219200"/>
          </a:xfrm>
          <a:prstGeom prst="roundRect">
            <a:avLst>
              <a:gd name="adj" fmla="val 50000"/>
            </a:avLst>
          </a:prstGeom>
          <a:solidFill>
            <a:srgbClr val="DD7A00"/>
          </a:solidFill>
          <a:ln w="0">
            <a:solidFill>
              <a:srgbClr val="DD7A00"/>
            </a:solidFill>
          </a:ln>
        </p:spPr>
      </p:sp>
      <p:sp>
        <p:nvSpPr>
          <p:cNvPr id="17" name="">
            <a:extLst>
              <a:ext uri="{FF2B5EF4-FFF2-40B4-BE49-F238E27FC236}">
                <ns2:creationId id="{4F5D54C5-6956-400C-9A07-26DD214C14E6}"/>
              </a:ext>
            </a:extLst>
          </p:cNvPr>
          <p:cNvSpPr>
            <a:spLocks noGrp="1"/>
          </p:cNvSpPr>
          <p:nvPr/>
        </p:nvSpPr>
        <p:spPr>
          <a:xfrm>
            <a:off x="9753600" y="1790700"/>
            <a:ext cx="16573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其他净非息占比</a:t>
            </a:r>
          </a:p>
        </p:txBody>
      </p:sp>
      <p:sp>
        <p:nvSpPr>
          <p:cNvPr id="18" name="">
            <a:extLst>
              <a:ext uri="{FF2B5EF4-FFF2-40B4-BE49-F238E27FC236}">
                <ns2:creationId id="{A129DB98-DD09-42F1-B19C-63336A010219}"/>
              </a:ext>
            </a:extLst>
          </p:cNvPr>
          <p:cNvSpPr>
            <a:spLocks noGrp="1"/>
          </p:cNvSpPr>
          <p:nvPr/>
        </p:nvSpPr>
        <p:spPr>
          <a:xfrm>
            <a:off x="9753600" y="2000250"/>
            <a:ext cx="16573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DD7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D7A00"/>
                </a:solidFill>
                <a:latin typeface="Microsoft YaHei"/>
                <a:ea typeface="Microsoft YaHei"/>
                <a:cs typeface="Microsoft YaHei"/>
              </a:rPr>
              <a:t>+4.06pp</a:t>
            </a:r>
          </a:p>
        </p:txBody>
      </p:sp>
      <p:sp>
        <p:nvSpPr>
          <p:cNvPr id="19" name="">
            <a:extLst>
              <a:ext uri="{FF2B5EF4-FFF2-40B4-BE49-F238E27FC236}">
                <ns2:creationId id="{FDD63E14-F76B-42E3-AE11-6F10C0E592B8}"/>
              </a:ext>
            </a:extLst>
          </p:cNvPr>
          <p:cNvSpPr>
            <a:spLocks noGrp="1"/>
          </p:cNvSpPr>
          <p:nvPr/>
        </p:nvSpPr>
        <p:spPr>
          <a:xfrm>
            <a:off x="9753600" y="25146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升至15.94%</a:t>
            </a:r>
          </a:p>
        </p:txBody>
      </p:sp>
      <p:sp>
        <p:nvSpPr>
          <p:cNvPr id="20" name="">
            <a:extLst>
              <a:ext uri="{FF2B5EF4-FFF2-40B4-BE49-F238E27FC236}">
                <ns2:creationId id="{D9CDB9CB-E6B8-4AF7-BBD7-547F5940A22D}"/>
              </a:ext>
            </a:extLst>
          </p:cNvPr>
          <p:cNvSpPr>
            <a:spLocks noGrp="1"/>
          </p:cNvSpPr>
          <p:nvPr/>
        </p:nvSpPr>
        <p:spPr>
          <a:xfrm>
            <a:off x="7429500" y="3048000"/>
            <a:ext cx="2000250" cy="1219200"/>
          </a:xfrm>
          <a:prstGeom prst="roundRect">
            <a:avLst>
              <a:gd name="adj" fmla="val 6250"/>
            </a:avLst>
          </a:prstGeom>
          <a:solidFill>
            <a:srgbClr val="EAF6F0"/>
          </a:solidFill>
          <a:ln w="9525">
            <a:solidFill>
              <a:srgbClr val="D7DFE7"/>
            </a:solidFill>
          </a:ln>
        </p:spPr>
      </p:sp>
      <p:sp>
        <p:nvSpPr>
          <p:cNvPr id="21" name="">
            <a:extLst>
              <a:ext uri="{FF2B5EF4-FFF2-40B4-BE49-F238E27FC236}">
                <ns2:creationId id="{8887A149-43B2-4BB9-8BB8-49BE35A9219E}"/>
              </a:ext>
            </a:extLst>
          </p:cNvPr>
          <p:cNvSpPr>
            <a:spLocks noGrp="1"/>
          </p:cNvSpPr>
          <p:nvPr/>
        </p:nvSpPr>
        <p:spPr>
          <a:xfrm>
            <a:off x="7429500" y="3048000"/>
            <a:ext cx="57150" cy="1219200"/>
          </a:xfrm>
          <a:prstGeom prst="roundRect">
            <a:avLst>
              <a:gd name="adj" fmla="val 50000"/>
            </a:avLst>
          </a:prstGeom>
          <a:solidFill>
            <a:srgbClr val="237A5A"/>
          </a:solidFill>
          <a:ln w="0">
            <a:solidFill>
              <a:srgbClr val="237A5A"/>
            </a:solidFill>
          </a:ln>
        </p:spPr>
      </p:sp>
      <p:sp>
        <p:nvSpPr>
          <p:cNvPr id="22" name="">
            <a:extLst>
              <a:ext uri="{FF2B5EF4-FFF2-40B4-BE49-F238E27FC236}">
                <ns2:creationId id="{3AFFB33E-B688-4943-85E3-584E8B5072BA}"/>
              </a:ext>
            </a:extLst>
          </p:cNvPr>
          <p:cNvSpPr>
            <a:spLocks noGrp="1"/>
          </p:cNvSpPr>
          <p:nvPr/>
        </p:nvSpPr>
        <p:spPr>
          <a:xfrm>
            <a:off x="7600950" y="3162300"/>
            <a:ext cx="16573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简化拨备前利润</a:t>
            </a:r>
          </a:p>
        </p:txBody>
      </p:sp>
      <p:sp>
        <p:nvSpPr>
          <p:cNvPr id="23" name="">
            <a:extLst>
              <a:ext uri="{FF2B5EF4-FFF2-40B4-BE49-F238E27FC236}">
                <ns2:creationId id="{4354B3E3-082A-4B33-9785-901BE0F14185}"/>
              </a:ext>
            </a:extLst>
          </p:cNvPr>
          <p:cNvSpPr>
            <a:spLocks noGrp="1"/>
          </p:cNvSpPr>
          <p:nvPr/>
        </p:nvSpPr>
        <p:spPr>
          <a:xfrm>
            <a:off x="7600950" y="3371850"/>
            <a:ext cx="16573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7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7A5A"/>
                </a:solidFill>
                <a:latin typeface="Microsoft YaHei"/>
                <a:ea typeface="Microsoft YaHei"/>
                <a:cs typeface="Microsoft YaHei"/>
              </a:rPr>
              <a:t>+0.63%</a:t>
            </a:r>
          </a:p>
        </p:txBody>
      </p:sp>
      <p:sp>
        <p:nvSpPr>
          <p:cNvPr id="24" name="">
            <a:extLst>
              <a:ext uri="{FF2B5EF4-FFF2-40B4-BE49-F238E27FC236}">
                <ns2:creationId id="{C217B41E-69A5-4701-99F0-2DA1E6A8F1C9}"/>
              </a:ext>
            </a:extLst>
          </p:cNvPr>
          <p:cNvSpPr>
            <a:spLocks noGrp="1"/>
          </p:cNvSpPr>
          <p:nvPr/>
        </p:nvSpPr>
        <p:spPr>
          <a:xfrm>
            <a:off x="7600950" y="38862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2,194.71亿元</a:t>
            </a:r>
          </a:p>
        </p:txBody>
      </p:sp>
      <p:sp>
        <p:nvSpPr>
          <p:cNvPr id="25" name="">
            <a:extLst>
              <a:ext uri="{FF2B5EF4-FFF2-40B4-BE49-F238E27FC236}">
                <ns2:creationId id="{D0845BC6-4758-41BE-8C99-790727C5C6BB}"/>
              </a:ext>
            </a:extLst>
          </p:cNvPr>
          <p:cNvSpPr>
            <a:spLocks noGrp="1"/>
          </p:cNvSpPr>
          <p:nvPr/>
        </p:nvSpPr>
        <p:spPr>
          <a:xfrm>
            <a:off x="9582150" y="3048000"/>
            <a:ext cx="2000250" cy="1219200"/>
          </a:xfrm>
          <a:prstGeom prst="roundRect">
            <a:avLst>
              <a:gd name="adj" fmla="val 6250"/>
            </a:avLst>
          </a:prstGeom>
          <a:solidFill>
            <a:srgbClr val="EAF6F0"/>
          </a:solidFill>
          <a:ln w="9525">
            <a:solidFill>
              <a:srgbClr val="D7DFE7"/>
            </a:solidFill>
          </a:ln>
        </p:spPr>
      </p:sp>
      <p:sp>
        <p:nvSpPr>
          <p:cNvPr id="26" name="">
            <a:extLst>
              <a:ext uri="{FF2B5EF4-FFF2-40B4-BE49-F238E27FC236}">
                <ns2:creationId id="{4A4C6B15-176A-4787-9DBC-26CD9976BC3A}"/>
              </a:ext>
            </a:extLst>
          </p:cNvPr>
          <p:cNvSpPr>
            <a:spLocks noGrp="1"/>
          </p:cNvSpPr>
          <p:nvPr/>
        </p:nvSpPr>
        <p:spPr>
          <a:xfrm>
            <a:off x="9582150" y="3048000"/>
            <a:ext cx="57150" cy="1219200"/>
          </a:xfrm>
          <a:prstGeom prst="roundRect">
            <a:avLst>
              <a:gd name="adj" fmla="val 50000"/>
            </a:avLst>
          </a:prstGeom>
          <a:solidFill>
            <a:srgbClr val="237A5A"/>
          </a:solidFill>
          <a:ln w="0">
            <a:solidFill>
              <a:srgbClr val="237A5A"/>
            </a:solidFill>
          </a:ln>
        </p:spPr>
      </p:sp>
      <p:sp>
        <p:nvSpPr>
          <p:cNvPr id="27" name="">
            <a:extLst>
              <a:ext uri="{FF2B5EF4-FFF2-40B4-BE49-F238E27FC236}">
                <ns2:creationId id="{C1D7A8BF-200F-41DC-AE63-2344B5545C83}"/>
              </a:ext>
            </a:extLst>
          </p:cNvPr>
          <p:cNvSpPr>
            <a:spLocks noGrp="1"/>
          </p:cNvSpPr>
          <p:nvPr/>
        </p:nvSpPr>
        <p:spPr>
          <a:xfrm>
            <a:off x="9753600" y="3162300"/>
            <a:ext cx="16573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归母净利润</a:t>
            </a:r>
          </a:p>
        </p:txBody>
      </p:sp>
      <p:sp>
        <p:nvSpPr>
          <p:cNvPr id="28" name="">
            <a:extLst>
              <a:ext uri="{FF2B5EF4-FFF2-40B4-BE49-F238E27FC236}">
                <ns2:creationId id="{6C59BD10-DB8F-4BAF-B8D4-49EB8F2AFE57}"/>
              </a:ext>
            </a:extLst>
          </p:cNvPr>
          <p:cNvSpPr>
            <a:spLocks noGrp="1"/>
          </p:cNvSpPr>
          <p:nvPr/>
        </p:nvSpPr>
        <p:spPr>
          <a:xfrm>
            <a:off x="9753600" y="3371850"/>
            <a:ext cx="16573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7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7A5A"/>
                </a:solidFill>
                <a:latin typeface="Microsoft YaHei"/>
                <a:ea typeface="Microsoft YaHei"/>
                <a:cs typeface="Microsoft YaHei"/>
              </a:rPr>
              <a:t>+1.22%</a:t>
            </a:r>
          </a:p>
        </p:txBody>
      </p:sp>
      <p:sp>
        <p:nvSpPr>
          <p:cNvPr id="29" name="">
            <a:extLst>
              <a:ext uri="{FF2B5EF4-FFF2-40B4-BE49-F238E27FC236}">
                <ns2:creationId id="{682349BE-7A8A-409E-AF6F-F2914F0D3290}"/>
              </a:ext>
            </a:extLst>
          </p:cNvPr>
          <p:cNvSpPr>
            <a:spLocks noGrp="1"/>
          </p:cNvSpPr>
          <p:nvPr/>
        </p:nvSpPr>
        <p:spPr>
          <a:xfrm>
            <a:off x="9753600" y="3886200"/>
            <a:ext cx="16573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1,483.91亿元</a:t>
            </a:r>
          </a:p>
        </p:txBody>
      </p:sp>
      <p:sp>
        <p:nvSpPr>
          <p:cNvPr id="30" name="">
            <a:extLst>
              <a:ext uri="{FF2B5EF4-FFF2-40B4-BE49-F238E27FC236}">
                <ns2:creationId id="{1582E6CC-64C8-4BFF-A084-499BEF5306D6}"/>
              </a:ext>
            </a:extLst>
          </p:cNvPr>
          <p:cNvSpPr>
            <a:spLocks noGrp="1"/>
          </p:cNvSpPr>
          <p:nvPr/>
        </p:nvSpPr>
        <p:spPr>
          <a:xfrm>
            <a:off x="7429500" y="4438650"/>
            <a:ext cx="4152900" cy="1333500"/>
          </a:xfrm>
          <a:prstGeom prst="roundRect">
            <a:avLst>
              <a:gd name="adj" fmla="val 5714"/>
            </a:avLst>
          </a:prstGeom>
          <a:solidFill>
            <a:srgbClr val="13283F"/>
          </a:solidFill>
          <a:ln w="0">
            <a:solidFill>
              <a:srgbClr val="13283F"/>
            </a:solidFill>
          </a:ln>
        </p:spPr>
      </p:sp>
      <p:sp>
        <p:nvSpPr>
          <p:cNvPr id="31" name="">
            <a:extLst>
              <a:ext uri="{FF2B5EF4-FFF2-40B4-BE49-F238E27FC236}">
                <ns2:creationId id="{A3D98078-6A70-48D5-BF85-07C18CAFC75E}"/>
              </a:ext>
            </a:extLst>
          </p:cNvPr>
          <p:cNvSpPr>
            <a:spLocks noGrp="1"/>
          </p:cNvSpPr>
          <p:nvPr/>
        </p:nvSpPr>
        <p:spPr>
          <a:xfrm>
            <a:off x="7639050" y="45910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2" name="">
            <a:extLst>
              <a:ext uri="{FF2B5EF4-FFF2-40B4-BE49-F238E27FC236}">
                <ns2:creationId id="{5B891C08-3388-4844-9A69-4191B6926FDE}"/>
              </a:ext>
            </a:extLst>
          </p:cNvPr>
          <p:cNvSpPr>
            <a:spLocks noGrp="1"/>
          </p:cNvSpPr>
          <p:nvPr/>
        </p:nvSpPr>
        <p:spPr>
          <a:xfrm>
            <a:off x="7639050" y="4857750"/>
            <a:ext cx="37338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利润韧性更多来自费用压降与其他净非息增长；核心经常性收入仍在收缩，不能仅凭利润增速判断经营质量改善。</a:t>
            </a:r>
          </a:p>
        </p:txBody>
      </p:sp>
      <p:sp>
        <p:nvSpPr>
          <p:cNvPr id="33" name="">
            <a:extLst>
              <a:ext uri="{FF2B5EF4-FFF2-40B4-BE49-F238E27FC236}">
                <ns2:creationId id="{F777B6B2-C81B-4A1C-A46C-61C0410B7A4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0"/>
          </a:xfrm>
          <a:prstGeom prst="line">
            <a:avLst/>
          </a:prstGeom>
          <a:noFill/>
          <a:ln w="9525">
            <a:solidFill>
              <a:srgbClr val="D7DFE7"/>
            </a:solidFill>
          </a:ln>
        </p:spPr>
      </p:sp>
      <p:sp>
        <p:nvSpPr>
          <p:cNvPr id="34" name="">
            <a:extLst>
              <a:ext uri="{FF2B5EF4-FFF2-40B4-BE49-F238E27FC236}">
                <ns2:creationId id="{D5C5DD16-CCED-45C0-9C10-BFC91B6CF5D9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952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数据来源：附件A01的01_盈利质量。金额由人民币百万元÷100换算为亿元；同比用未舍入值计算。</a:t>
            </a:r>
          </a:p>
        </p:txBody>
      </p:sp>
      <p:sp>
        <p:nvSpPr>
          <p:cNvPr id="35" name="">
            <a:extLst>
              <a:ext uri="{FF2B5EF4-FFF2-40B4-BE49-F238E27FC236}">
                <ns2:creationId id="{6058D90E-EF9E-4484-8906-308233FF8C80}"/>
              </a:ext>
            </a:extLst>
          </p:cNvPr>
          <p:cNvSpPr>
            <a:spLocks noGrp="1"/>
          </p:cNvSpPr>
          <p:nvPr/>
        </p:nvSpPr>
        <p:spPr>
          <a:xfrm>
            <a:off x="10191750" y="6543675"/>
            <a:ext cx="13906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TASK 190492  |  3</a:t>
            </a:r>
          </a:p>
        </p:txBody>
      </p:sp>
    </p:spTree>
    <p:extLst>
      <p:ext uri="{BB962C8B-B14F-4D97-AF65-F5344CB8AC3E}">
        <ns5:creationId val="834100184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">
            <a:extLst>
              <a:ext uri="{FF2B5EF4-FFF2-40B4-BE49-F238E27FC236}">
                <ns2:creationId id="{648C8F6E-212A-417A-B739-64D1DC13DF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48000" cy="95250"/>
          </a:xfrm>
          <a:prstGeom prst="rect">
            <a:avLst/>
          </a:prstGeom>
          <a:solidFill>
            <a:srgbClr val="2BA4B4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965E0492-7310-461F-A629-F794619B027B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144000" cy="95250"/>
          </a:xfrm>
          <a:prstGeom prst="rect">
            <a:avLst/>
          </a:prstGeom>
          <a:solidFill>
            <a:srgbClr val="13283F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08C9D52A-D019-4941-B3DD-9A2A15A58AA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rPr>
              <a:t>04  NIM BRIDGE</a:t>
            </a:r>
          </a:p>
        </p:txBody>
      </p:sp>
      <p:sp>
        <p:nvSpPr>
          <p:cNvPr id="4" name="">
            <a:extLst>
              <a:ext uri="{FF2B5EF4-FFF2-40B4-BE49-F238E27FC236}">
                <ns2:creationId id="{2D6647FF-9A16-49BC-A7D9-1E480521624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息差量价：规模贡献不足以对冲价格压力</a:t>
            </a:r>
          </a:p>
        </p:txBody>
      </p:sp>
      <p:sp>
        <p:nvSpPr>
          <p:cNvPr id="5" name="">
            <a:extLst>
              <a:ext uri="{FF2B5EF4-FFF2-40B4-BE49-F238E27FC236}">
                <ns2:creationId id="{401D3205-4DB2-42A0-99C6-77AE41069DBE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贷款收益率下降35bp，而存款成本仅下降8bp；价格因素损失186.36亿元，超过规模正贡献。</a:t>
            </a:r>
          </a:p>
        </p:txBody>
      </p:sp>
      <p:sp>
        <p:nvSpPr>
          <p:cNvPr id="6" name="">
            <a:extLst>
              <a:ext uri="{FF2B5EF4-FFF2-40B4-BE49-F238E27FC236}">
                <ns2:creationId id="{E25056D1-C430-4FED-A59B-6FBE80D8DFA2}"/>
              </a:ext>
            </a:extLst>
          </p:cNvPr>
          <p:cNvSpPr>
            <a:spLocks noGrp="1"/>
          </p:cNvSpPr>
          <p:nvPr/>
        </p:nvSpPr>
        <p:spPr>
          <a:xfrm>
            <a:off x="10906125" y="342900"/>
            <a:ext cx="6953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  <p:sp>
        <p:nvSpPr>
          <p:cNvPr id="7" name="">
            <a:extLst>
              <a:ext uri="{FF2B5EF4-FFF2-40B4-BE49-F238E27FC236}">
                <ns2:creationId id="{E48DD079-9714-4DA4-BA5F-EAE47DDB6F74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6858000" cy="3981450"/>
          </a:xfrm>
          <a:prstGeom prst="roundRect">
            <a:avLst>
              <a:gd name="adj" fmla="val 1914"/>
            </a:avLst>
          </a:prstGeom>
          <a:solidFill>
            <a:srgbClr val="FFFFFF"/>
          </a:solidFill>
          <a:ln w="9525">
            <a:solidFill>
              <a:srgbClr val="D7DFE7"/>
            </a:solidFill>
          </a:ln>
        </p:spPr>
      </p:sp>
      <p:sp>
        <p:nvSpPr>
          <p:cNvPr id="8" name="">
            <a:extLst>
              <a:ext uri="{FF2B5EF4-FFF2-40B4-BE49-F238E27FC236}">
                <ns2:creationId id="{53743173-E6E3-451C-93A6-3A2BE140B004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净利息收入变化贡献｜人民币亿元</a:t>
            </a:r>
          </a:p>
        </p:txBody>
      </p:sp>
      <p:graphicFrame>
        <p:nvGraphicFramePr>
          <p:cNvPr id="45" name="Chart_Page4_NimBridge" descr="原生可编辑堆积柱形瀑布桥：2023净利息收入2146.69亿元，经规模因素+152.44亿元、利率因素-186.36亿元及净变化-33.92亿元，勾稽至2024年2112.77亿元，来源A01 02_息差量价。"/>
          <p:cNvGraphicFramePr/>
          <p:nvPr/>
        </p:nvGraphicFramePr>
        <p:xfrm>
          <a:off x="838200" y="2247900"/>
          <a:ext cx="6381750" cy="3048000"/>
        </p:xfrm>
        <a:graphic>
          <a:graphicData uri="http://schemas.openxmlformats.org/drawingml/2006/chart">
            <ns3:chart r:id="R06d7f162041c4247"/>
          </a:graphicData>
        </a:graphic>
      </p:graphicFrame>
      <p:sp>
        <p:nvSpPr>
          <p:cNvPr id="10" name="">
            <a:extLst>
              <a:ext uri="{FF2B5EF4-FFF2-40B4-BE49-F238E27FC236}">
                <ns2:creationId id="{943964CB-A142-44BC-A6C1-F45D3169DFC4}"/>
              </a:ext>
            </a:extLst>
          </p:cNvPr>
          <p:cNvSpPr>
            <a:spLocks noGrp="1"/>
          </p:cNvSpPr>
          <p:nvPr/>
        </p:nvSpPr>
        <p:spPr>
          <a:xfrm>
            <a:off x="1009650" y="525780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2,146.69</a:t>
            </a:r>
          </a:p>
        </p:txBody>
      </p:sp>
      <p:sp>
        <p:nvSpPr>
          <p:cNvPr id="11" name="">
            <a:extLst>
              <a:ext uri="{FF2B5EF4-FFF2-40B4-BE49-F238E27FC236}">
                <ns2:creationId id="{0E8CFA18-8215-48F1-B1BA-18DE407782D2}"/>
              </a:ext>
            </a:extLst>
          </p:cNvPr>
          <p:cNvSpPr>
            <a:spLocks noGrp="1"/>
          </p:cNvSpPr>
          <p:nvPr/>
        </p:nvSpPr>
        <p:spPr>
          <a:xfrm>
            <a:off x="1009650" y="5505450"/>
            <a:ext cx="1143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2023 NII</a:t>
            </a:r>
          </a:p>
        </p:txBody>
      </p:sp>
      <p:sp>
        <p:nvSpPr>
          <p:cNvPr id="12" name="">
            <a:extLst>
              <a:ext uri="{FF2B5EF4-FFF2-40B4-BE49-F238E27FC236}">
                <ns2:creationId id="{75FD0006-4399-4061-AD9F-AAF3C837502B}"/>
              </a:ext>
            </a:extLst>
          </p:cNvPr>
          <p:cNvSpPr>
            <a:spLocks noGrp="1"/>
          </p:cNvSpPr>
          <p:nvPr/>
        </p:nvSpPr>
        <p:spPr>
          <a:xfrm>
            <a:off x="2247900" y="525780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>
              <a:ext uri="{FF2B5EF4-FFF2-40B4-BE49-F238E27FC236}">
                <ns2:creationId id="{1EE4DDF8-032F-4FAA-9026-9054261713C5}"/>
              </a:ext>
            </a:extLst>
          </p:cNvPr>
          <p:cNvSpPr>
            <a:spLocks noGrp="1"/>
          </p:cNvSpPr>
          <p:nvPr/>
        </p:nvSpPr>
        <p:spPr>
          <a:xfrm>
            <a:off x="2724150" y="525780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2,112.77</a:t>
            </a:r>
          </a:p>
        </p:txBody>
      </p:sp>
      <p:sp>
        <p:nvSpPr>
          <p:cNvPr id="14" name="">
            <a:extLst>
              <a:ext uri="{FF2B5EF4-FFF2-40B4-BE49-F238E27FC236}">
                <ns2:creationId id="{42E6DA3D-CAAC-4218-932B-34FE9FEDA474}"/>
              </a:ext>
            </a:extLst>
          </p:cNvPr>
          <p:cNvSpPr>
            <a:spLocks noGrp="1"/>
          </p:cNvSpPr>
          <p:nvPr/>
        </p:nvSpPr>
        <p:spPr>
          <a:xfrm>
            <a:off x="2724150" y="5505450"/>
            <a:ext cx="1143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2024 NII</a:t>
            </a:r>
          </a:p>
        </p:txBody>
      </p:sp>
      <p:sp>
        <p:nvSpPr>
          <p:cNvPr id="15" name="">
            <a:extLst>
              <a:ext uri="{FF2B5EF4-FFF2-40B4-BE49-F238E27FC236}">
                <ns2:creationId id="{6933E27C-DF0D-4744-9664-59B683BF4BDD}"/>
              </a:ext>
            </a:extLst>
          </p:cNvPr>
          <p:cNvSpPr>
            <a:spLocks noGrp="1"/>
          </p:cNvSpPr>
          <p:nvPr/>
        </p:nvSpPr>
        <p:spPr>
          <a:xfrm>
            <a:off x="7734300" y="1676400"/>
            <a:ext cx="3848100" cy="1104900"/>
          </a:xfrm>
          <a:prstGeom prst="roundRect">
            <a:avLst>
              <a:gd name="adj" fmla="val 6897"/>
            </a:avLst>
          </a:prstGeom>
          <a:solidFill>
            <a:srgbClr val="FCEBEB"/>
          </a:solidFill>
          <a:ln w="9525">
            <a:solidFill>
              <a:srgbClr val="D7DFE7"/>
            </a:solidFill>
          </a:ln>
        </p:spPr>
      </p:sp>
      <p:sp>
        <p:nvSpPr>
          <p:cNvPr id="16" name="">
            <a:extLst>
              <a:ext uri="{FF2B5EF4-FFF2-40B4-BE49-F238E27FC236}">
                <ns2:creationId id="{C58F6761-DD1C-48C6-A466-B3B008B8BF66}"/>
              </a:ext>
            </a:extLst>
          </p:cNvPr>
          <p:cNvSpPr>
            <a:spLocks noGrp="1"/>
          </p:cNvSpPr>
          <p:nvPr/>
        </p:nvSpPr>
        <p:spPr>
          <a:xfrm>
            <a:off x="7734300" y="1676400"/>
            <a:ext cx="57150" cy="1104900"/>
          </a:xfrm>
          <a:prstGeom prst="roundRect">
            <a:avLst>
              <a:gd name="adj" fmla="val 50000"/>
            </a:avLst>
          </a:prstGeom>
          <a:solidFill>
            <a:srgbClr val="BC3D3D"/>
          </a:solidFill>
          <a:ln w="0">
            <a:solidFill>
              <a:srgbClr val="BC3D3D"/>
            </a:solidFill>
          </a:ln>
        </p:spPr>
      </p:sp>
      <p:sp>
        <p:nvSpPr>
          <p:cNvPr id="17" name="">
            <a:extLst>
              <a:ext uri="{FF2B5EF4-FFF2-40B4-BE49-F238E27FC236}">
                <ns2:creationId id="{3BCFFE98-2B2B-4733-B9FF-950EEF227866}"/>
              </a:ext>
            </a:extLst>
          </p:cNvPr>
          <p:cNvSpPr>
            <a:spLocks noGrp="1"/>
          </p:cNvSpPr>
          <p:nvPr/>
        </p:nvSpPr>
        <p:spPr>
          <a:xfrm>
            <a:off x="7905750" y="1790700"/>
            <a:ext cx="35052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净息差 NIM</a:t>
            </a:r>
          </a:p>
        </p:txBody>
      </p:sp>
      <p:sp>
        <p:nvSpPr>
          <p:cNvPr id="18" name="">
            <a:extLst>
              <a:ext uri="{FF2B5EF4-FFF2-40B4-BE49-F238E27FC236}">
                <ns2:creationId id="{B1787F37-1114-4152-BE14-DD84FFA661CD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35052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BC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C3D3D"/>
                </a:solidFill>
                <a:latin typeface="Microsoft YaHei"/>
                <a:ea typeface="Microsoft YaHei"/>
                <a:cs typeface="Microsoft YaHei"/>
              </a:rPr>
              <a:t>2.15% → 1.98%</a:t>
            </a:r>
          </a:p>
        </p:txBody>
      </p:sp>
      <p:sp>
        <p:nvSpPr>
          <p:cNvPr id="19" name="">
            <a:extLst>
              <a:ext uri="{FF2B5EF4-FFF2-40B4-BE49-F238E27FC236}">
                <ns2:creationId id="{551F02BA-00E9-4BFB-BEEF-9AE7ED48AC18}"/>
              </a:ext>
            </a:extLst>
          </p:cNvPr>
          <p:cNvSpPr>
            <a:spLocks noGrp="1"/>
          </p:cNvSpPr>
          <p:nvPr/>
        </p:nvSpPr>
        <p:spPr>
          <a:xfrm>
            <a:off x="7905750" y="2400300"/>
            <a:ext cx="35052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同比收窄17bp</a:t>
            </a:r>
          </a:p>
        </p:txBody>
      </p:sp>
      <p:sp>
        <p:nvSpPr>
          <p:cNvPr id="20" name="">
            <a:extLst>
              <a:ext uri="{FF2B5EF4-FFF2-40B4-BE49-F238E27FC236}">
                <ns2:creationId id="{29124F93-EE75-477A-8486-4D18986F26D7}"/>
              </a:ext>
            </a:extLst>
          </p:cNvPr>
          <p:cNvSpPr>
            <a:spLocks noGrp="1"/>
          </p:cNvSpPr>
          <p:nvPr/>
        </p:nvSpPr>
        <p:spPr>
          <a:xfrm>
            <a:off x="7734300" y="2952750"/>
            <a:ext cx="1847850" cy="1104900"/>
          </a:xfrm>
          <a:prstGeom prst="roundRect">
            <a:avLst>
              <a:gd name="adj" fmla="val 6897"/>
            </a:avLst>
          </a:prstGeom>
          <a:solidFill>
            <a:srgbClr val="FCEBEB"/>
          </a:solidFill>
          <a:ln w="9525">
            <a:solidFill>
              <a:srgbClr val="D7DFE7"/>
            </a:solidFill>
          </a:ln>
        </p:spPr>
      </p:sp>
      <p:sp>
        <p:nvSpPr>
          <p:cNvPr id="21" name="">
            <a:extLst>
              <a:ext uri="{FF2B5EF4-FFF2-40B4-BE49-F238E27FC236}">
                <ns2:creationId id="{66DFF094-0407-4CEE-A280-B3EDACD1205A}"/>
              </a:ext>
            </a:extLst>
          </p:cNvPr>
          <p:cNvSpPr>
            <a:spLocks noGrp="1"/>
          </p:cNvSpPr>
          <p:nvPr/>
        </p:nvSpPr>
        <p:spPr>
          <a:xfrm>
            <a:off x="7734300" y="2952750"/>
            <a:ext cx="57150" cy="1104900"/>
          </a:xfrm>
          <a:prstGeom prst="roundRect">
            <a:avLst>
              <a:gd name="adj" fmla="val 50000"/>
            </a:avLst>
          </a:prstGeom>
          <a:solidFill>
            <a:srgbClr val="BC3D3D"/>
          </a:solidFill>
          <a:ln w="0">
            <a:solidFill>
              <a:srgbClr val="BC3D3D"/>
            </a:solidFill>
          </a:ln>
        </p:spPr>
      </p:sp>
      <p:sp>
        <p:nvSpPr>
          <p:cNvPr id="22" name="">
            <a:extLst>
              <a:ext uri="{FF2B5EF4-FFF2-40B4-BE49-F238E27FC236}">
                <ns2:creationId id="{D6F52BEE-A22C-4463-B79F-9B42D8C88DF8}"/>
              </a:ext>
            </a:extLst>
          </p:cNvPr>
          <p:cNvSpPr>
            <a:spLocks noGrp="1"/>
          </p:cNvSpPr>
          <p:nvPr/>
        </p:nvSpPr>
        <p:spPr>
          <a:xfrm>
            <a:off x="7905750" y="3067050"/>
            <a:ext cx="15049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贷款收益率</a:t>
            </a:r>
          </a:p>
        </p:txBody>
      </p:sp>
      <p:sp>
        <p:nvSpPr>
          <p:cNvPr id="23" name="">
            <a:extLst>
              <a:ext uri="{FF2B5EF4-FFF2-40B4-BE49-F238E27FC236}">
                <ns2:creationId id="{6881F56F-5072-4955-89EB-99828A225B27}"/>
              </a:ext>
            </a:extLst>
          </p:cNvPr>
          <p:cNvSpPr>
            <a:spLocks noGrp="1"/>
          </p:cNvSpPr>
          <p:nvPr/>
        </p:nvSpPr>
        <p:spPr>
          <a:xfrm>
            <a:off x="7905750" y="3276600"/>
            <a:ext cx="150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BC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C3D3D"/>
                </a:solidFill>
                <a:latin typeface="Microsoft YaHei"/>
                <a:ea typeface="Microsoft YaHei"/>
                <a:cs typeface="Microsoft YaHei"/>
              </a:rPr>
              <a:t>-35bp</a:t>
            </a:r>
          </a:p>
        </p:txBody>
      </p:sp>
      <p:sp>
        <p:nvSpPr>
          <p:cNvPr id="24" name="">
            <a:extLst>
              <a:ext uri="{FF2B5EF4-FFF2-40B4-BE49-F238E27FC236}">
                <ns2:creationId id="{F5A79915-3E9F-4015-83E9-FAC82B79B34E}"/>
              </a:ext>
            </a:extLst>
          </p:cNvPr>
          <p:cNvSpPr>
            <a:spLocks noGrp="1"/>
          </p:cNvSpPr>
          <p:nvPr/>
        </p:nvSpPr>
        <p:spPr>
          <a:xfrm>
            <a:off x="7905750" y="3676650"/>
            <a:ext cx="15049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4.26% → 3.91%</a:t>
            </a:r>
          </a:p>
        </p:txBody>
      </p:sp>
      <p:sp>
        <p:nvSpPr>
          <p:cNvPr id="25" name="">
            <a:extLst>
              <a:ext uri="{FF2B5EF4-FFF2-40B4-BE49-F238E27FC236}">
                <ns2:creationId id="{73EA3C96-B7AC-40B9-BC21-66A905853002}"/>
              </a:ext>
            </a:extLst>
          </p:cNvPr>
          <p:cNvSpPr>
            <a:spLocks noGrp="1"/>
          </p:cNvSpPr>
          <p:nvPr/>
        </p:nvSpPr>
        <p:spPr>
          <a:xfrm>
            <a:off x="9734550" y="2952750"/>
            <a:ext cx="1847850" cy="1104900"/>
          </a:xfrm>
          <a:prstGeom prst="roundRect">
            <a:avLst>
              <a:gd name="adj" fmla="val 6897"/>
            </a:avLst>
          </a:prstGeom>
          <a:solidFill>
            <a:srgbClr val="EAF6F0"/>
          </a:solidFill>
          <a:ln w="9525">
            <a:solidFill>
              <a:srgbClr val="D7DFE7"/>
            </a:solidFill>
          </a:ln>
        </p:spPr>
      </p:sp>
      <p:sp>
        <p:nvSpPr>
          <p:cNvPr id="26" name="">
            <a:extLst>
              <a:ext uri="{FF2B5EF4-FFF2-40B4-BE49-F238E27FC236}">
                <ns2:creationId id="{ABCFC8E7-AF7B-4450-9FB3-E7ACFEB25A40}"/>
              </a:ext>
            </a:extLst>
          </p:cNvPr>
          <p:cNvSpPr>
            <a:spLocks noGrp="1"/>
          </p:cNvSpPr>
          <p:nvPr/>
        </p:nvSpPr>
        <p:spPr>
          <a:xfrm>
            <a:off x="9734550" y="2952750"/>
            <a:ext cx="57150" cy="1104900"/>
          </a:xfrm>
          <a:prstGeom prst="roundRect">
            <a:avLst>
              <a:gd name="adj" fmla="val 50000"/>
            </a:avLst>
          </a:prstGeom>
          <a:solidFill>
            <a:srgbClr val="237A5A"/>
          </a:solidFill>
          <a:ln w="0">
            <a:solidFill>
              <a:srgbClr val="237A5A"/>
            </a:solidFill>
          </a:ln>
        </p:spPr>
      </p:sp>
      <p:sp>
        <p:nvSpPr>
          <p:cNvPr id="27" name="">
            <a:extLst>
              <a:ext uri="{FF2B5EF4-FFF2-40B4-BE49-F238E27FC236}">
                <ns2:creationId id="{AE13CEF6-826D-47E5-BC3B-F5C25172D69B}"/>
              </a:ext>
            </a:extLst>
          </p:cNvPr>
          <p:cNvSpPr>
            <a:spLocks noGrp="1"/>
          </p:cNvSpPr>
          <p:nvPr/>
        </p:nvSpPr>
        <p:spPr>
          <a:xfrm>
            <a:off x="9906000" y="3067050"/>
            <a:ext cx="15049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存款成本率</a:t>
            </a:r>
          </a:p>
        </p:txBody>
      </p:sp>
      <p:sp>
        <p:nvSpPr>
          <p:cNvPr id="28" name="">
            <a:extLst>
              <a:ext uri="{FF2B5EF4-FFF2-40B4-BE49-F238E27FC236}">
                <ns2:creationId id="{68E49C80-6D83-4195-842E-18EEDBA93FE0}"/>
              </a:ext>
            </a:extLst>
          </p:cNvPr>
          <p:cNvSpPr>
            <a:spLocks noGrp="1"/>
          </p:cNvSpPr>
          <p:nvPr/>
        </p:nvSpPr>
        <p:spPr>
          <a:xfrm>
            <a:off x="9906000" y="3276600"/>
            <a:ext cx="150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37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7A5A"/>
                </a:solidFill>
                <a:latin typeface="Microsoft YaHei"/>
                <a:ea typeface="Microsoft YaHei"/>
                <a:cs typeface="Microsoft YaHei"/>
              </a:rPr>
              <a:t>-8bp</a:t>
            </a:r>
          </a:p>
        </p:txBody>
      </p:sp>
      <p:sp>
        <p:nvSpPr>
          <p:cNvPr id="29" name="">
            <a:extLst>
              <a:ext uri="{FF2B5EF4-FFF2-40B4-BE49-F238E27FC236}">
                <ns2:creationId id="{36330055-0B9E-48F6-B5D2-EA0F65BE2337}"/>
              </a:ext>
            </a:extLst>
          </p:cNvPr>
          <p:cNvSpPr>
            <a:spLocks noGrp="1"/>
          </p:cNvSpPr>
          <p:nvPr/>
        </p:nvSpPr>
        <p:spPr>
          <a:xfrm>
            <a:off x="9906000" y="3676650"/>
            <a:ext cx="15049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1.62% → 1.54%</a:t>
            </a:r>
          </a:p>
        </p:txBody>
      </p:sp>
      <p:sp>
        <p:nvSpPr>
          <p:cNvPr id="30" name="">
            <a:extLst>
              <a:ext uri="{FF2B5EF4-FFF2-40B4-BE49-F238E27FC236}">
                <ns2:creationId id="{F7678B4F-B575-4FDB-B807-4CB59A126153}"/>
              </a:ext>
            </a:extLst>
          </p:cNvPr>
          <p:cNvSpPr>
            <a:spLocks noGrp="1"/>
          </p:cNvSpPr>
          <p:nvPr/>
        </p:nvSpPr>
        <p:spPr>
          <a:xfrm>
            <a:off x="7734300" y="4229100"/>
            <a:ext cx="3848100" cy="1428750"/>
          </a:xfrm>
          <a:prstGeom prst="roundRect">
            <a:avLst>
              <a:gd name="adj" fmla="val 5333"/>
            </a:avLst>
          </a:prstGeom>
          <a:solidFill>
            <a:srgbClr val="13283F"/>
          </a:solidFill>
          <a:ln w="0">
            <a:solidFill>
              <a:srgbClr val="13283F"/>
            </a:solidFill>
          </a:ln>
        </p:spPr>
      </p:sp>
      <p:sp>
        <p:nvSpPr>
          <p:cNvPr id="31" name="">
            <a:extLst>
              <a:ext uri="{FF2B5EF4-FFF2-40B4-BE49-F238E27FC236}">
                <ns2:creationId id="{2D83DD52-9111-4F32-9FC1-FCE4022E215F}"/>
              </a:ext>
            </a:extLst>
          </p:cNvPr>
          <p:cNvSpPr>
            <a:spLocks noGrp="1"/>
          </p:cNvSpPr>
          <p:nvPr/>
        </p:nvSpPr>
        <p:spPr>
          <a:xfrm>
            <a:off x="7962900" y="4381500"/>
            <a:ext cx="762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rPr>
              <a:t>判读</a:t>
            </a:r>
          </a:p>
        </p:txBody>
      </p:sp>
      <p:sp>
        <p:nvSpPr>
          <p:cNvPr id="32" name="">
            <a:extLst>
              <a:ext uri="{FF2B5EF4-FFF2-40B4-BE49-F238E27FC236}">
                <ns2:creationId id="{AC5695C4-BC83-48C8-A67B-C19B0CFF5F96}"/>
              </a:ext>
            </a:extLst>
          </p:cNvPr>
          <p:cNvSpPr>
            <a:spLocks noGrp="1"/>
          </p:cNvSpPr>
          <p:nvPr/>
        </p:nvSpPr>
        <p:spPr>
          <a:xfrm>
            <a:off x="7962900" y="4648200"/>
            <a:ext cx="3333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 +152.44亿元 &lt; 价格损失 186.36亿元</a:t>
            </a:r>
          </a:p>
        </p:txBody>
      </p:sp>
      <p:sp>
        <p:nvSpPr>
          <p:cNvPr id="33" name="">
            <a:extLst>
              <a:ext uri="{FF2B5EF4-FFF2-40B4-BE49-F238E27FC236}">
                <ns2:creationId id="{E6E3F5C3-B5C1-48C0-8495-11E1059ED8F7}"/>
              </a:ext>
            </a:extLst>
          </p:cNvPr>
          <p:cNvSpPr>
            <a:spLocks noGrp="1"/>
          </p:cNvSpPr>
          <p:nvPr/>
        </p:nvSpPr>
        <p:spPr>
          <a:xfrm>
            <a:off x="7962900" y="502920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D8E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4EC"/>
                </a:solidFill>
                <a:latin typeface="Microsoft YaHei"/>
                <a:ea typeface="Microsoft YaHei"/>
                <a:cs typeface="Microsoft YaHei"/>
              </a:rPr>
              <a:t>规模扩张没有抵消资产端定价下行；净利息收入同比减少33.92亿元。</a:t>
            </a:r>
          </a:p>
        </p:txBody>
      </p:sp>
      <p:sp>
        <p:nvSpPr>
          <p:cNvPr id="34" name="">
            <a:extLst>
              <a:ext uri="{FF2B5EF4-FFF2-40B4-BE49-F238E27FC236}">
                <ns2:creationId id="{1D8ABFF6-4FCE-48FC-8FCD-0B9BB3ED7F9A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0"/>
          </a:xfrm>
          <a:prstGeom prst="line">
            <a:avLst/>
          </a:prstGeom>
          <a:noFill/>
          <a:ln w="9525">
            <a:solidFill>
              <a:srgbClr val="D7DFE7"/>
            </a:solidFill>
          </a:ln>
        </p:spPr>
      </p:sp>
      <p:sp>
        <p:nvSpPr>
          <p:cNvPr id="35" name="">
            <a:extLst>
              <a:ext uri="{FF2B5EF4-FFF2-40B4-BE49-F238E27FC236}">
                <ns2:creationId id="{1748D0FA-5A82-4059-9E30-B913BB587FEB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952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数据来源：附件A01的02_息差量价。量价桥使用人民币百万元原值计算后换算为亿元。</a:t>
            </a:r>
          </a:p>
        </p:txBody>
      </p:sp>
      <p:sp>
        <p:nvSpPr>
          <p:cNvPr id="36" name="">
            <a:extLst>
              <a:ext uri="{FF2B5EF4-FFF2-40B4-BE49-F238E27FC236}">
                <ns2:creationId id="{3FABFB32-5A93-4EAE-A215-F37759F03F69}"/>
              </a:ext>
            </a:extLst>
          </p:cNvPr>
          <p:cNvSpPr>
            <a:spLocks noGrp="1"/>
          </p:cNvSpPr>
          <p:nvPr/>
        </p:nvSpPr>
        <p:spPr>
          <a:xfrm>
            <a:off x="10191750" y="6543675"/>
            <a:ext cx="13906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TASK 190492  |  4</a:t>
            </a:r>
          </a:p>
        </p:txBody>
      </p:sp>
    </p:spTree>
    <p:extLst>
      <p:ext uri="{BB962C8B-B14F-4D97-AF65-F5344CB8AC3E}">
        <ns5:creationId val="1901452096"/>
      </p:ext>
    </p:extLst>
  </p:cSld>
</p:sld>
</file>

<file path=ppt/slides/slide5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8" name="">
            <a:extLst>
              <a:ext uri="{FF2B5EF4-FFF2-40B4-BE49-F238E27FC236}">
                <ns2:creationId id="{656D5A4C-B21F-4DA4-81A8-676BDA4393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48000" cy="95250"/>
          </a:xfrm>
          <a:prstGeom prst="rect">
            <a:avLst/>
          </a:prstGeom>
          <a:solidFill>
            <a:srgbClr val="2BA4B4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45D42E4D-248F-4D89-9E30-D8DBF9DA4063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144000" cy="95250"/>
          </a:xfrm>
          <a:prstGeom prst="rect">
            <a:avLst/>
          </a:prstGeom>
          <a:solidFill>
            <a:srgbClr val="13283F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33F6FA7E-B5C4-4025-8803-3E0533112D9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rPr>
              <a:t>05  RISK MIGRATION</a:t>
            </a:r>
          </a:p>
        </p:txBody>
      </p:sp>
      <p:sp>
        <p:nvSpPr>
          <p:cNvPr id="4" name="">
            <a:extLst>
              <a:ext uri="{FF2B5EF4-FFF2-40B4-BE49-F238E27FC236}">
                <ns2:creationId id="{953C2461-9F2D-4E90-A883-F790B9E1815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风险迁徙：Stage 2与零售信贷同步抬升</a:t>
            </a:r>
          </a:p>
        </p:txBody>
      </p:sp>
      <p:sp>
        <p:nvSpPr>
          <p:cNvPr id="5" name="">
            <a:extLst>
              <a:ext uri="{FF2B5EF4-FFF2-40B4-BE49-F238E27FC236}">
                <ns2:creationId id="{1E30FD7E-F878-4E6D-A7BE-73F3E674BD7A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全行不良净增40.31亿元。零售增加45.48亿元，对公减少5.17亿元，净恶化全部来自零售端。</a:t>
            </a:r>
          </a:p>
        </p:txBody>
      </p:sp>
      <p:sp>
        <p:nvSpPr>
          <p:cNvPr id="6" name="">
            <a:extLst>
              <a:ext uri="{FF2B5EF4-FFF2-40B4-BE49-F238E27FC236}">
                <ns2:creationId id="{6E367352-71FA-47F1-8636-0BF11AF1FDFE}"/>
              </a:ext>
            </a:extLst>
          </p:cNvPr>
          <p:cNvSpPr>
            <a:spLocks noGrp="1"/>
          </p:cNvSpPr>
          <p:nvPr/>
        </p:nvSpPr>
        <p:spPr>
          <a:xfrm>
            <a:off x="10906125" y="342900"/>
            <a:ext cx="6953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5 / 10</a:t>
            </a:r>
          </a:p>
        </p:txBody>
      </p:sp>
      <p:sp>
        <p:nvSpPr>
          <p:cNvPr id="7" name="">
            <a:extLst>
              <a:ext uri="{FF2B5EF4-FFF2-40B4-BE49-F238E27FC236}">
                <ns2:creationId id="{285DFD25-F8D7-4ACA-AC1E-27B2B40D15FC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295900" cy="396240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7DFE7"/>
            </a:solidFill>
          </a:ln>
        </p:spPr>
      </p:sp>
      <p:sp>
        <p:nvSpPr>
          <p:cNvPr id="8" name="">
            <a:extLst>
              <a:ext uri="{FF2B5EF4-FFF2-40B4-BE49-F238E27FC236}">
                <ns2:creationId id="{91B6EAF5-FC74-463E-8579-BFDD5FF46D89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不良余额归因｜人民币亿元</a:t>
            </a:r>
          </a:p>
        </p:txBody>
      </p:sp>
      <p:graphicFrame>
        <p:nvGraphicFramePr>
          <p:cNvPr id="36" name="Chart_Page5_RiskMigration" descr="原生簇状柱形图：比较2023和2024年零售及对公不良余额，突出零售风险迁徙，单位人民币亿元，来源A01 03至05工作表。"/>
          <p:cNvGraphicFramePr/>
          <p:nvPr/>
        </p:nvGraphicFramePr>
        <p:xfrm>
          <a:off x="800100" y="2266950"/>
          <a:ext cx="4914900" cy="2667000"/>
        </p:xfrm>
        <a:graphic>
          <a:graphicData uri="http://schemas.openxmlformats.org/drawingml/2006/chart">
            <c:chart r:id="R3aae3677543a4c5d"/>
          </a:graphicData>
        </a:graphic>
      </p:graphicFrame>
      <p:sp>
        <p:nvSpPr>
          <p:cNvPr id="10" name="">
            <a:extLst>
              <a:ext uri="{FF2B5EF4-FFF2-40B4-BE49-F238E27FC236}">
                <ns2:creationId id="{51575A61-8053-4EE5-9A02-74DD7ABE814E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4838700" cy="476250"/>
          </a:xfrm>
          <a:prstGeom prst="roundRect">
            <a:avLst>
              <a:gd name="adj" fmla="val 16000"/>
            </a:avLst>
          </a:prstGeom>
          <a:solidFill>
            <a:srgbClr val="FCEBEB"/>
          </a:solidFill>
          <a:ln w="9525">
            <a:solidFill>
              <a:srgbClr val="E8B8B8"/>
            </a:solidFill>
          </a:ln>
        </p:spPr>
      </p:sp>
      <p:sp>
        <p:nvSpPr>
          <p:cNvPr id="11" name="">
            <a:extLst>
              <a:ext uri="{FF2B5EF4-FFF2-40B4-BE49-F238E27FC236}">
                <ns2:creationId id="{51C63AC9-0FD9-41CD-90C9-58810110A2A9}"/>
              </a:ext>
            </a:extLst>
          </p:cNvPr>
          <p:cNvSpPr>
            <a:spLocks noGrp="1"/>
          </p:cNvSpPr>
          <p:nvPr/>
        </p:nvSpPr>
        <p:spPr>
          <a:xfrm>
            <a:off x="971550" y="5105400"/>
            <a:ext cx="4572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BC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C3D3D"/>
                </a:solidFill>
                <a:latin typeface="Microsoft YaHei"/>
                <a:ea typeface="Microsoft YaHei"/>
                <a:cs typeface="Microsoft YaHei"/>
              </a:rPr>
              <a:t>零售不良 +14.87%  &gt;  零售贷款 +6.01%</a:t>
            </a:r>
          </a:p>
        </p:txBody>
      </p:sp>
      <p:sp>
        <p:nvSpPr>
          <p:cNvPr id="12" name="">
            <a:extLst>
              <a:ext uri="{FF2B5EF4-FFF2-40B4-BE49-F238E27FC236}">
                <ns2:creationId id="{D6281B99-A037-47D0-80DC-2C00CD451FD6}"/>
              </a:ext>
            </a:extLst>
          </p:cNvPr>
          <p:cNvSpPr>
            <a:spLocks noGrp="1"/>
          </p:cNvSpPr>
          <p:nvPr/>
        </p:nvSpPr>
        <p:spPr>
          <a:xfrm>
            <a:off x="6153150" y="1676400"/>
            <a:ext cx="2552700" cy="1066800"/>
          </a:xfrm>
          <a:prstGeom prst="roundRect">
            <a:avLst>
              <a:gd name="adj" fmla="val 7143"/>
            </a:avLst>
          </a:prstGeom>
          <a:solidFill>
            <a:srgbClr val="FFF3E5"/>
          </a:solidFill>
          <a:ln w="9525">
            <a:solidFill>
              <a:srgbClr val="D7DFE7"/>
            </a:solidFill>
          </a:ln>
        </p:spPr>
      </p:sp>
      <p:sp>
        <p:nvSpPr>
          <p:cNvPr id="13" name="">
            <a:extLst>
              <a:ext uri="{FF2B5EF4-FFF2-40B4-BE49-F238E27FC236}">
                <ns2:creationId id="{9D72C7F1-551F-45A7-B8DD-B63D41B2C1FA}"/>
              </a:ext>
            </a:extLst>
          </p:cNvPr>
          <p:cNvSpPr>
            <a:spLocks noGrp="1"/>
          </p:cNvSpPr>
          <p:nvPr/>
        </p:nvSpPr>
        <p:spPr>
          <a:xfrm>
            <a:off x="6153150" y="1676400"/>
            <a:ext cx="57150" cy="1066800"/>
          </a:xfrm>
          <a:prstGeom prst="roundRect">
            <a:avLst>
              <a:gd name="adj" fmla="val 50000"/>
            </a:avLst>
          </a:prstGeom>
          <a:solidFill>
            <a:srgbClr val="DD7A00"/>
          </a:solidFill>
          <a:ln w="0">
            <a:solidFill>
              <a:srgbClr val="DD7A00"/>
            </a:solidFill>
          </a:ln>
        </p:spPr>
      </p:sp>
      <p:sp>
        <p:nvSpPr>
          <p:cNvPr id="14" name="">
            <a:extLst>
              <a:ext uri="{FF2B5EF4-FFF2-40B4-BE49-F238E27FC236}">
                <ns2:creationId id="{FDA4F12C-2F26-4362-9950-B4D22DC372A7}"/>
              </a:ext>
            </a:extLst>
          </p:cNvPr>
          <p:cNvSpPr>
            <a:spLocks noGrp="1"/>
          </p:cNvSpPr>
          <p:nvPr/>
        </p:nvSpPr>
        <p:spPr>
          <a:xfrm>
            <a:off x="6324600" y="1790700"/>
            <a:ext cx="22098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Stage 2+3占比</a:t>
            </a:r>
          </a:p>
        </p:txBody>
      </p:sp>
      <p:sp>
        <p:nvSpPr>
          <p:cNvPr id="15" name="">
            <a:extLst>
              <a:ext uri="{FF2B5EF4-FFF2-40B4-BE49-F238E27FC236}">
                <ns2:creationId id="{2679CA20-7751-4A73-841B-32A104F37831}"/>
              </a:ext>
            </a:extLst>
          </p:cNvPr>
          <p:cNvSpPr>
            <a:spLocks noGrp="1"/>
          </p:cNvSpPr>
          <p:nvPr/>
        </p:nvSpPr>
        <p:spPr>
          <a:xfrm>
            <a:off x="6324600" y="2000250"/>
            <a:ext cx="2209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DD7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D7A00"/>
                </a:solidFill>
                <a:latin typeface="Microsoft YaHei"/>
                <a:ea typeface="Microsoft YaHei"/>
                <a:cs typeface="Microsoft YaHei"/>
              </a:rPr>
              <a:t>4.29%</a:t>
            </a:r>
          </a:p>
        </p:txBody>
      </p:sp>
      <p:sp>
        <p:nvSpPr>
          <p:cNvPr id="16" name="">
            <a:extLst>
              <a:ext uri="{FF2B5EF4-FFF2-40B4-BE49-F238E27FC236}">
                <ns2:creationId id="{79E3FC48-2BEA-4D7D-8DE8-597E68194DDC}"/>
              </a:ext>
            </a:extLst>
          </p:cNvPr>
          <p:cNvSpPr>
            <a:spLocks noGrp="1"/>
          </p:cNvSpPr>
          <p:nvPr/>
        </p:nvSpPr>
        <p:spPr>
          <a:xfrm>
            <a:off x="6324600" y="2362200"/>
            <a:ext cx="2209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2023年3.83%｜+46bp</a:t>
            </a:r>
          </a:p>
        </p:txBody>
      </p:sp>
      <p:sp>
        <p:nvSpPr>
          <p:cNvPr id="17" name="">
            <a:extLst>
              <a:ext uri="{FF2B5EF4-FFF2-40B4-BE49-F238E27FC236}">
                <ns2:creationId id="{A0170740-4629-4CDE-BBF8-707CB3B0E489}"/>
              </a:ext>
            </a:extLst>
          </p:cNvPr>
          <p:cNvSpPr>
            <a:spLocks noGrp="1"/>
          </p:cNvSpPr>
          <p:nvPr/>
        </p:nvSpPr>
        <p:spPr>
          <a:xfrm>
            <a:off x="8858250" y="1676400"/>
            <a:ext cx="2724150" cy="1066800"/>
          </a:xfrm>
          <a:prstGeom prst="roundRect">
            <a:avLst>
              <a:gd name="adj" fmla="val 7143"/>
            </a:avLst>
          </a:prstGeom>
          <a:solidFill>
            <a:srgbClr val="FCEBEB"/>
          </a:solidFill>
          <a:ln w="9525">
            <a:solidFill>
              <a:srgbClr val="D7DFE7"/>
            </a:solidFill>
          </a:ln>
        </p:spPr>
      </p:sp>
      <p:sp>
        <p:nvSpPr>
          <p:cNvPr id="18" name="">
            <a:extLst>
              <a:ext uri="{FF2B5EF4-FFF2-40B4-BE49-F238E27FC236}">
                <ns2:creationId id="{FF520256-A28F-4FA5-B34C-846732C00957}"/>
              </a:ext>
            </a:extLst>
          </p:cNvPr>
          <p:cNvSpPr>
            <a:spLocks noGrp="1"/>
          </p:cNvSpPr>
          <p:nvPr/>
        </p:nvSpPr>
        <p:spPr>
          <a:xfrm>
            <a:off x="8858250" y="1676400"/>
            <a:ext cx="57150" cy="1066800"/>
          </a:xfrm>
          <a:prstGeom prst="roundRect">
            <a:avLst>
              <a:gd name="adj" fmla="val 50000"/>
            </a:avLst>
          </a:prstGeom>
          <a:solidFill>
            <a:srgbClr val="BC3D3D"/>
          </a:solidFill>
          <a:ln w="0">
            <a:solidFill>
              <a:srgbClr val="BC3D3D"/>
            </a:solidFill>
          </a:ln>
        </p:spPr>
      </p:sp>
      <p:sp>
        <p:nvSpPr>
          <p:cNvPr id="19" name="">
            <a:extLst>
              <a:ext uri="{FF2B5EF4-FFF2-40B4-BE49-F238E27FC236}">
                <ns2:creationId id="{F78DB0F0-81A1-404B-8B7A-5E5972BCF59F}"/>
              </a:ext>
            </a:extLst>
          </p:cNvPr>
          <p:cNvSpPr>
            <a:spLocks noGrp="1"/>
          </p:cNvSpPr>
          <p:nvPr/>
        </p:nvSpPr>
        <p:spPr>
          <a:xfrm>
            <a:off x="9029700" y="179070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零售占全行不良</a:t>
            </a:r>
          </a:p>
        </p:txBody>
      </p:sp>
      <p:sp>
        <p:nvSpPr>
          <p:cNvPr id="20" name="">
            <a:extLst>
              <a:ext uri="{FF2B5EF4-FFF2-40B4-BE49-F238E27FC236}">
                <ns2:creationId id="{29F7D1D1-B756-47EE-B22A-6BBDE82FEAE3}"/>
              </a:ext>
            </a:extLst>
          </p:cNvPr>
          <p:cNvSpPr>
            <a:spLocks noGrp="1"/>
          </p:cNvSpPr>
          <p:nvPr/>
        </p:nvSpPr>
        <p:spPr>
          <a:xfrm>
            <a:off x="9029700" y="200025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BC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C3D3D"/>
                </a:solidFill>
                <a:latin typeface="Microsoft YaHei"/>
                <a:ea typeface="Microsoft YaHei"/>
                <a:cs typeface="Microsoft YaHei"/>
              </a:rPr>
              <a:t>53.55%</a:t>
            </a:r>
          </a:p>
        </p:txBody>
      </p:sp>
      <p:sp>
        <p:nvSpPr>
          <p:cNvPr id="21" name="">
            <a:extLst>
              <a:ext uri="{FF2B5EF4-FFF2-40B4-BE49-F238E27FC236}">
                <ns2:creationId id="{91AA3A94-CFB4-4F14-B7E0-C0AB154DE1F9}"/>
              </a:ext>
            </a:extLst>
          </p:cNvPr>
          <p:cNvSpPr>
            <a:spLocks noGrp="1"/>
          </p:cNvSpPr>
          <p:nvPr/>
        </p:nvSpPr>
        <p:spPr>
          <a:xfrm>
            <a:off x="9029700" y="236220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零售不良余额占比过半</a:t>
            </a:r>
          </a:p>
        </p:txBody>
      </p:sp>
      <p:graphicFrame>
        <p:nvGraphicFramePr>
          <p:cNvPr id="49" name="Table_Page5_Audit_1" descr="风险迁徙明细表：Stage 2余额、覆盖率、不良余额及预警比例，来源A01 03至05工作表。"/>
          <p:cNvGraphicFramePr/>
          <p:nvPr/>
        </p:nvGraphicFramePr>
        <p:xfrm>
          <a:off x="6153150" y="2914650"/>
          <a:ext cx="5429250" cy="2343150"/>
        </p:xfrm>
        <a:graphic>
          <a:graphicData uri="http://schemas.openxmlformats.org/drawingml/2006/table">
            <a:tbl>
              <a:tblPr/>
              <a:tblGrid>
                <a:gridCol w="1809750"/>
                <a:gridCol w="1123950"/>
                <a:gridCol w="1219200"/>
                <a:gridCol w="1276350"/>
              </a:tblGrid>
              <a:tr h="46863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观察指标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变化/判读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Stage 2余额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1,651.05亿元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2,048.58亿元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DD7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+24.08%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Stage 2拨备覆盖</a:t>
                      </a:r>
                    </a:p>
                  </a:txBody>
                  <a:tcPr marL="76200" marR="76200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28.91%</a:t>
                      </a:r>
                    </a:p>
                  </a:txBody>
                  <a:tcPr marL="76200" marR="76200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27.79%</a:t>
                      </a:r>
                    </a:p>
                  </a:txBody>
                  <a:tcPr marL="76200" marR="76200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C3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-112bp</a:t>
                      </a:r>
                    </a:p>
                  </a:txBody>
                  <a:tcPr marL="76200" marR="76200" marT="38100" marB="38100" anchor="ctr">
                    <a:solidFill>
                      <a:srgbClr val="EEF1F4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不良余额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615.79亿元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656.10亿元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+40.31亿元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关注+不良预警比例</a:t>
                      </a:r>
                    </a:p>
                  </a:txBody>
                  <a:tcPr marL="76200" marR="76200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76200" marR="76200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2.25%</a:t>
                      </a:r>
                    </a:p>
                  </a:txBody>
                  <a:tcPr marL="76200" marR="76200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前瞻风险抬升</a:t>
                      </a:r>
                    </a:p>
                  </a:txBody>
                  <a:tcPr marL="76200" marR="76200" marT="38100" marB="38100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>
              <a:ext uri="{FF2B5EF4-FFF2-40B4-BE49-F238E27FC236}">
                <ns2:creationId id="{F4D61EE4-7B25-4533-90F8-A795AA038376}"/>
              </a:ext>
            </a:extLst>
          </p:cNvPr>
          <p:cNvSpPr>
            <a:spLocks noGrp="1"/>
          </p:cNvSpPr>
          <p:nvPr/>
        </p:nvSpPr>
        <p:spPr>
          <a:xfrm>
            <a:off x="6153150" y="5391150"/>
            <a:ext cx="5429250" cy="381000"/>
          </a:xfrm>
          <a:prstGeom prst="roundRect">
            <a:avLst>
              <a:gd name="adj" fmla="val 20000"/>
            </a:avLst>
          </a:prstGeom>
          <a:solidFill>
            <a:srgbClr val="13283F"/>
          </a:solidFill>
          <a:ln w="0">
            <a:solidFill>
              <a:srgbClr val="13283F"/>
            </a:solidFill>
          </a:ln>
        </p:spPr>
      </p:sp>
      <p:sp>
        <p:nvSpPr>
          <p:cNvPr id="24" name="">
            <a:extLst>
              <a:ext uri="{FF2B5EF4-FFF2-40B4-BE49-F238E27FC236}">
                <ns2:creationId id="{DAAA2889-3C75-4512-B739-2F200166C7FD}"/>
              </a:ext>
            </a:extLst>
          </p:cNvPr>
          <p:cNvSpPr>
            <a:spLocks noGrp="1"/>
          </p:cNvSpPr>
          <p:nvPr/>
        </p:nvSpPr>
        <p:spPr>
          <a:xfrm>
            <a:off x="6324600" y="5467350"/>
            <a:ext cx="50863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风险判断：总体NPL率0.95%稳定，但前瞻指标与零售迁徙明显恶化。</a:t>
            </a:r>
          </a:p>
        </p:txBody>
      </p:sp>
      <p:sp>
        <p:nvSpPr>
          <p:cNvPr id="25" name="">
            <a:extLst>
              <a:ext uri="{FF2B5EF4-FFF2-40B4-BE49-F238E27FC236}">
                <ns2:creationId id="{40EB0B92-CE69-4C05-8593-CC3D5C15655E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0"/>
          </a:xfrm>
          <a:prstGeom prst="line">
            <a:avLst/>
          </a:prstGeom>
          <a:noFill/>
          <a:ln w="9525">
            <a:solidFill>
              <a:srgbClr val="D7DFE7"/>
            </a:solidFill>
          </a:ln>
        </p:spPr>
      </p:sp>
      <p:sp>
        <p:nvSpPr>
          <p:cNvPr id="26" name="">
            <a:extLst>
              <a:ext uri="{FF2B5EF4-FFF2-40B4-BE49-F238E27FC236}">
                <ns2:creationId id="{E79459CA-FD02-4718-B050-539AC41D5305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952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数据来源：附件A01的03_五级分类、04_产品风险、05_Stage与拨备。Stage口径为摊余成本贷款。</a:t>
            </a:r>
          </a:p>
        </p:txBody>
      </p:sp>
      <p:sp>
        <p:nvSpPr>
          <p:cNvPr id="27" name="">
            <a:extLst>
              <a:ext uri="{FF2B5EF4-FFF2-40B4-BE49-F238E27FC236}">
                <ns2:creationId id="{5A2CC2D5-BFE1-4293-9018-5557DA144D59}"/>
              </a:ext>
            </a:extLst>
          </p:cNvPr>
          <p:cNvSpPr>
            <a:spLocks noGrp="1"/>
          </p:cNvSpPr>
          <p:nvPr/>
        </p:nvSpPr>
        <p:spPr>
          <a:xfrm>
            <a:off x="10191750" y="6543675"/>
            <a:ext cx="13906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TASK 190492  |  5</a:t>
            </a:r>
          </a:p>
        </p:txBody>
      </p:sp>
    </p:spTree>
    <p:extLst>
      <p:ext uri="{BB962C8B-B14F-4D97-AF65-F5344CB8AC3E}">
        <ns5:creationId val="831994338"/>
      </p:ext>
    </p:extLst>
  </p:cSld>
</p:sld>
</file>

<file path=ppt/slides/slide6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3" name="">
            <a:extLst>
              <a:ext uri="{FF2B5EF4-FFF2-40B4-BE49-F238E27FC236}">
                <ns2:creationId id="{01BA3E32-CD11-4031-A53F-317E9FAD6A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48000" cy="95250"/>
          </a:xfrm>
          <a:prstGeom prst="rect">
            <a:avLst/>
          </a:prstGeom>
          <a:solidFill>
            <a:srgbClr val="2BA4B4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96557F0A-5F37-4A40-8E39-7C16A1C01CCA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144000" cy="95250"/>
          </a:xfrm>
          <a:prstGeom prst="rect">
            <a:avLst/>
          </a:prstGeom>
          <a:solidFill>
            <a:srgbClr val="13283F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EF22BCC6-5139-45D3-9479-C977200E990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rPr>
              <a:t>06  CAPITAL STRESS</a:t>
            </a:r>
          </a:p>
        </p:txBody>
      </p:sp>
      <p:sp>
        <p:nvSpPr>
          <p:cNvPr id="4" name="">
            <a:extLst>
              <a:ext uri="{FF2B5EF4-FFF2-40B4-BE49-F238E27FC236}">
                <ns2:creationId id="{28BD7E98-F38A-4889-A9DD-5675351D900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静态资本压力：统一密度下的基准诊断</a:t>
            </a:r>
          </a:p>
        </p:txBody>
      </p:sp>
      <p:sp>
        <p:nvSpPr>
          <p:cNvPr id="5" name="">
            <a:extLst>
              <a:ext uri="{FF2B5EF4-FFF2-40B4-BE49-F238E27FC236}">
                <ns2:creationId id="{DF3FD916-FC96-4709-803D-1AFAB73F8E82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统一65%新增贷款RWA密度下，重度情景CET1降至11.13%，资本缺口322.83亿元。</a:t>
            </a:r>
          </a:p>
        </p:txBody>
      </p:sp>
      <p:sp>
        <p:nvSpPr>
          <p:cNvPr id="6" name="">
            <a:extLst>
              <a:ext uri="{FF2B5EF4-FFF2-40B4-BE49-F238E27FC236}">
                <ns2:creationId id="{CE7D7226-EF50-4540-8EC4-537DE0653907}"/>
              </a:ext>
            </a:extLst>
          </p:cNvPr>
          <p:cNvSpPr>
            <a:spLocks noGrp="1"/>
          </p:cNvSpPr>
          <p:nvPr/>
        </p:nvSpPr>
        <p:spPr>
          <a:xfrm>
            <a:off x="10906125" y="342900"/>
            <a:ext cx="6953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6 / 10</a:t>
            </a:r>
          </a:p>
        </p:txBody>
      </p:sp>
      <p:sp>
        <p:nvSpPr>
          <p:cNvPr id="7" name="">
            <a:extLst>
              <a:ext uri="{FF2B5EF4-FFF2-40B4-BE49-F238E27FC236}">
                <ns2:creationId id="{43E3FF06-0A58-4DC0-A6A5-7675F350A53E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4953000" cy="3981450"/>
          </a:xfrm>
          <a:prstGeom prst="roundRect">
            <a:avLst>
              <a:gd name="adj" fmla="val 1914"/>
            </a:avLst>
          </a:prstGeom>
          <a:solidFill>
            <a:srgbClr val="FFFFFF"/>
          </a:solidFill>
          <a:ln w="9525">
            <a:solidFill>
              <a:srgbClr val="D7DFE7"/>
            </a:solidFill>
          </a:ln>
        </p:spPr>
      </p:sp>
      <p:sp>
        <p:nvSpPr>
          <p:cNvPr id="8" name="">
            <a:extLst>
              <a:ext uri="{FF2B5EF4-FFF2-40B4-BE49-F238E27FC236}">
                <ns2:creationId id="{9F430A08-F712-4172-B9C2-E4FD9714A4DB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CET1情景路径｜%</a:t>
            </a:r>
          </a:p>
        </p:txBody>
      </p:sp>
      <p:graphicFrame>
        <p:nvGraphicFramePr>
          <p:cNvPr id="31" name="Chart_Page6_Cet1Stress" descr="原生折线图：比较基准、中度、重度加权法CET1率，并以独立数据系列标示11.50%内部底线，来源A01 04、06、07与A02第1页。"/>
          <p:cNvGraphicFramePr/>
          <p:nvPr/>
        </p:nvGraphicFramePr>
        <p:xfrm>
          <a:off x="800100" y="2247900"/>
          <a:ext cx="4533900" cy="2781300"/>
        </p:xfrm>
        <a:graphic>
          <a:graphicData uri="http://schemas.openxmlformats.org/drawingml/2006/chart">
            <c:chart r:id="R5c45b6fcef1249e7"/>
          </a:graphicData>
        </a:graphic>
      </p:graphicFrame>
      <p:sp>
        <p:nvSpPr>
          <p:cNvPr id="10" name="">
            <a:extLst>
              <a:ext uri="{FF2B5EF4-FFF2-40B4-BE49-F238E27FC236}">
                <ns2:creationId id="{9FB728B0-69A4-4AA5-9D6D-1CE38AA23FC5}"/>
              </a:ext>
            </a:extLst>
          </p:cNvPr>
          <p:cNvSpPr>
            <a:spLocks noGrp="1"/>
          </p:cNvSpPr>
          <p:nvPr/>
        </p:nvSpPr>
        <p:spPr>
          <a:xfrm>
            <a:off x="914400" y="5105400"/>
            <a:ext cx="1143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7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基准缓冲</a:t>
            </a:r>
          </a:p>
        </p:txBody>
      </p:sp>
      <p:sp>
        <p:nvSpPr>
          <p:cNvPr id="11" name="">
            <a:extLst>
              <a:ext uri="{FF2B5EF4-FFF2-40B4-BE49-F238E27FC236}">
                <ns2:creationId id="{E5500A17-6CB1-4279-90E6-7D0382B2FFFD}"/>
              </a:ext>
            </a:extLst>
          </p:cNvPr>
          <p:cNvSpPr>
            <a:spLocks noGrp="1"/>
          </p:cNvSpPr>
          <p:nvPr/>
        </p:nvSpPr>
        <p:spPr>
          <a:xfrm>
            <a:off x="914400" y="525780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237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7A5A"/>
                </a:solidFill>
                <a:latin typeface="Microsoft YaHei"/>
                <a:ea typeface="Microsoft YaHei"/>
                <a:cs typeface="Microsoft YaHei"/>
              </a:rPr>
              <a:t>+93bp</a:t>
            </a:r>
          </a:p>
        </p:txBody>
      </p:sp>
      <p:sp>
        <p:nvSpPr>
          <p:cNvPr id="12" name="">
            <a:extLst>
              <a:ext uri="{FF2B5EF4-FFF2-40B4-BE49-F238E27FC236}">
                <ns2:creationId id="{17991DD5-9910-454A-94C5-6F23A7BBB57F}"/>
              </a:ext>
            </a:extLst>
          </p:cNvPr>
          <p:cNvSpPr>
            <a:spLocks noGrp="1"/>
          </p:cNvSpPr>
          <p:nvPr/>
        </p:nvSpPr>
        <p:spPr>
          <a:xfrm>
            <a:off x="2266950" y="5105400"/>
            <a:ext cx="1143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7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中度余量</a:t>
            </a:r>
          </a:p>
        </p:txBody>
      </p:sp>
      <p:sp>
        <p:nvSpPr>
          <p:cNvPr id="13" name="">
            <a:extLst>
              <a:ext uri="{FF2B5EF4-FFF2-40B4-BE49-F238E27FC236}">
                <ns2:creationId id="{FA8C8FD4-ABB8-4610-BC6E-415207378D16}"/>
              </a:ext>
            </a:extLst>
          </p:cNvPr>
          <p:cNvSpPr>
            <a:spLocks noGrp="1"/>
          </p:cNvSpPr>
          <p:nvPr/>
        </p:nvSpPr>
        <p:spPr>
          <a:xfrm>
            <a:off x="2266950" y="525780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DD7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D7A00"/>
                </a:solidFill>
                <a:latin typeface="Microsoft YaHei"/>
                <a:ea typeface="Microsoft YaHei"/>
                <a:cs typeface="Microsoft YaHei"/>
              </a:rPr>
              <a:t>+4.9bp</a:t>
            </a:r>
          </a:p>
        </p:txBody>
      </p:sp>
      <p:sp>
        <p:nvSpPr>
          <p:cNvPr id="14" name="">
            <a:extLst>
              <a:ext uri="{FF2B5EF4-FFF2-40B4-BE49-F238E27FC236}">
                <ns2:creationId id="{6AF4FA75-F53F-4885-AEE3-0D5F52482DCB}"/>
              </a:ext>
            </a:extLst>
          </p:cNvPr>
          <p:cNvSpPr>
            <a:spLocks noGrp="1"/>
          </p:cNvSpPr>
          <p:nvPr/>
        </p:nvSpPr>
        <p:spPr>
          <a:xfrm>
            <a:off x="3657600" y="5105400"/>
            <a:ext cx="1143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7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重度缺口</a:t>
            </a:r>
          </a:p>
        </p:txBody>
      </p:sp>
      <p:sp>
        <p:nvSpPr>
          <p:cNvPr id="15" name="">
            <a:extLst>
              <a:ext uri="{FF2B5EF4-FFF2-40B4-BE49-F238E27FC236}">
                <ns2:creationId id="{C5FA993A-5B28-43FE-8BC4-A48CFA45AEDE}"/>
              </a:ext>
            </a:extLst>
          </p:cNvPr>
          <p:cNvSpPr>
            <a:spLocks noGrp="1"/>
          </p:cNvSpPr>
          <p:nvPr/>
        </p:nvSpPr>
        <p:spPr>
          <a:xfrm>
            <a:off x="3657600" y="525780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BC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C3D3D"/>
                </a:solidFill>
                <a:latin typeface="Microsoft YaHei"/>
                <a:ea typeface="Microsoft YaHei"/>
                <a:cs typeface="Microsoft YaHei"/>
              </a:rPr>
              <a:t>-37.2bp</a:t>
            </a:r>
          </a:p>
        </p:txBody>
      </p:sp>
      <p:graphicFrame>
        <p:nvGraphicFramePr>
          <p:cNvPr id="38" name="Table_Page6_Audit_1" descr="静态资本压力结果表：中度与重度情景完整计算链，来源A01 04、06、07及A02第1页。"/>
          <p:cNvGraphicFramePr/>
          <p:nvPr/>
        </p:nvGraphicFramePr>
        <p:xfrm>
          <a:off x="5791200" y="1676400"/>
          <a:ext cx="5791200" cy="3333750"/>
        </p:xfrm>
        <a:graphic>
          <a:graphicData uri="http://schemas.openxmlformats.org/drawingml/2006/table">
            <a:tbl>
              <a:tblPr/>
              <a:tblGrid>
                <a:gridCol w="2724150"/>
                <a:gridCol w="1533525"/>
                <a:gridCol w="1533525"/>
              </a:tblGrid>
              <a:tr h="333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压力结果｜人民币亿元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中度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重度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新增不良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313.17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626.35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NIM税前损失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106.86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213.72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新增拨备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219.22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501.08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税后资本影响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260.87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571.84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压力后CET1资本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9,969.61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9,658.64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压力后RWA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86,325.59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86,795.35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压力后CET1率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D7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11.54885058%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C3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11.12805940%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相对11.50%底线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 b="1">
                          <a:solidFill>
                            <a:srgbClr val="DD7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+4.885bp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BC3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-37.194bp / -322.827亿元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9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最大可承受贷款增速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 b="1">
                          <a:solidFill>
                            <a:srgbClr val="DD7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8.81900220%</a:t>
                      </a:r>
                    </a:p>
                  </a:txBody>
                  <a:tcPr marL="76200" marR="76200" marT="19050" marB="1905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 b="1">
                          <a:solidFill>
                            <a:srgbClr val="BC3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1.73031324%</a:t>
                      </a:r>
                    </a:p>
                  </a:txBody>
                  <a:tcPr marL="76200" marR="76200" marT="19050" marB="19050" anchor="ctr">
                    <a:solidFill>
                      <a:srgbClr val="FCEBEB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>
              <a:ext uri="{FF2B5EF4-FFF2-40B4-BE49-F238E27FC236}">
                <ns2:creationId id="{7799B164-31FA-43E6-9CCE-10486012DE09}"/>
              </a:ext>
            </a:extLst>
          </p:cNvPr>
          <p:cNvSpPr>
            <a:spLocks noGrp="1"/>
          </p:cNvSpPr>
          <p:nvPr/>
        </p:nvSpPr>
        <p:spPr>
          <a:xfrm>
            <a:off x="5791200" y="5181600"/>
            <a:ext cx="5791200" cy="590550"/>
          </a:xfrm>
          <a:prstGeom prst="roundRect">
            <a:avLst>
              <a:gd name="adj" fmla="val 12903"/>
            </a:avLst>
          </a:prstGeom>
          <a:solidFill>
            <a:srgbClr val="13283F"/>
          </a:solidFill>
          <a:ln w="0">
            <a:solidFill>
              <a:srgbClr val="13283F"/>
            </a:solidFill>
          </a:ln>
        </p:spPr>
      </p:sp>
      <p:sp>
        <p:nvSpPr>
          <p:cNvPr id="18" name="">
            <a:extLst>
              <a:ext uri="{FF2B5EF4-FFF2-40B4-BE49-F238E27FC236}">
                <ns2:creationId id="{DBEADB9C-EFFF-4B4C-9B12-2A7EA8F20897}"/>
              </a:ext>
            </a:extLst>
          </p:cNvPr>
          <p:cNvSpPr>
            <a:spLocks noGrp="1"/>
          </p:cNvSpPr>
          <p:nvPr/>
        </p:nvSpPr>
        <p:spPr>
          <a:xfrm>
            <a:off x="5981700" y="5276850"/>
            <a:ext cx="95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75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rPr>
              <a:t>计算口径</a:t>
            </a:r>
          </a:p>
        </p:txBody>
      </p:sp>
      <p:sp>
        <p:nvSpPr>
          <p:cNvPr id="19" name="">
            <a:extLst>
              <a:ext uri="{FF2B5EF4-FFF2-40B4-BE49-F238E27FC236}">
                <ns2:creationId id="{42688148-46D7-4172-AA6F-3D1EAD2E208E}"/>
              </a:ext>
            </a:extLst>
          </p:cNvPr>
          <p:cNvSpPr>
            <a:spLocks noGrp="1"/>
          </p:cNvSpPr>
          <p:nvPr/>
        </p:nvSpPr>
        <p:spPr>
          <a:xfrm>
            <a:off x="6972300" y="5219700"/>
            <a:ext cx="44386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CET1只用加权法；新增贷款统一65% RWA密度；静态层不计新增贷款NII和预期损失；全部以未舍入值计算。</a:t>
            </a:r>
          </a:p>
        </p:txBody>
      </p:sp>
      <p:sp>
        <p:nvSpPr>
          <p:cNvPr id="20" name="">
            <a:extLst>
              <a:ext uri="{FF2B5EF4-FFF2-40B4-BE49-F238E27FC236}">
                <ns2:creationId id="{AA2ED089-34B0-46C6-B025-B0C9A1237CF1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0"/>
          </a:xfrm>
          <a:prstGeom prst="line">
            <a:avLst/>
          </a:prstGeom>
          <a:noFill/>
          <a:ln w="9525">
            <a:solidFill>
              <a:srgbClr val="D7DFE7"/>
            </a:solidFill>
          </a:ln>
        </p:spPr>
      </p:sp>
      <p:sp>
        <p:nvSpPr>
          <p:cNvPr id="21" name="">
            <a:extLst>
              <a:ext uri="{FF2B5EF4-FFF2-40B4-BE49-F238E27FC236}">
                <ns2:creationId id="{DD8AF9FD-AE11-43E9-8226-C7467699F041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952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数据来源：附件A01的04_产品风险、06_资本充足率、07_压力测试假设；附件A02。所有橙色参数均为案例假设。</a:t>
            </a:r>
          </a:p>
        </p:txBody>
      </p:sp>
      <p:sp>
        <p:nvSpPr>
          <p:cNvPr id="22" name="">
            <a:extLst>
              <a:ext uri="{FF2B5EF4-FFF2-40B4-BE49-F238E27FC236}">
                <ns2:creationId id="{FF56487C-BB5D-4B25-B8BD-559B8F85F6FD}"/>
              </a:ext>
            </a:extLst>
          </p:cNvPr>
          <p:cNvSpPr>
            <a:spLocks noGrp="1"/>
          </p:cNvSpPr>
          <p:nvPr/>
        </p:nvSpPr>
        <p:spPr>
          <a:xfrm>
            <a:off x="10191750" y="6543675"/>
            <a:ext cx="13906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TASK 190492  |  6</a:t>
            </a:r>
          </a:p>
        </p:txBody>
      </p:sp>
    </p:spTree>
    <p:extLst>
      <p:ext uri="{BB962C8B-B14F-4D97-AF65-F5344CB8AC3E}">
        <ns5:creationId val="335868329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">
            <a:extLst>
              <a:ext uri="{FF2B5EF4-FFF2-40B4-BE49-F238E27FC236}">
                <ns2:creationId id="{6CA2F6B1-C8B9-47A3-96F9-04E3D9A22F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48000" cy="95250"/>
          </a:xfrm>
          <a:prstGeom prst="rect">
            <a:avLst/>
          </a:prstGeom>
          <a:solidFill>
            <a:srgbClr val="2BA4B4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126BB0C5-2783-4253-B2C3-95EB1CE350D2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144000" cy="95250"/>
          </a:xfrm>
          <a:prstGeom prst="rect">
            <a:avLst/>
          </a:prstGeom>
          <a:solidFill>
            <a:srgbClr val="13283F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7EC3C898-0CEF-4AE7-9475-E208FA75E34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rPr>
              <a:t>07  PORTFOLIO SCREEN</a:t>
            </a:r>
          </a:p>
        </p:txBody>
      </p:sp>
      <p:sp>
        <p:nvSpPr>
          <p:cNvPr id="4" name="">
            <a:extLst>
              <a:ext uri="{FF2B5EF4-FFF2-40B4-BE49-F238E27FC236}">
                <ns2:creationId id="{26AB1D18-582E-4A24-9A9B-9A370837AFF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候选组合：四种8%分配的联合筛选</a:t>
            </a:r>
          </a:p>
        </p:txBody>
      </p:sp>
      <p:sp>
        <p:nvSpPr>
          <p:cNvPr id="5" name="">
            <a:extLst>
              <a:ext uri="{FF2B5EF4-FFF2-40B4-BE49-F238E27FC236}">
                <ns2:creationId id="{1A0A4E01-7D81-4494-A09F-3F69D112B8F4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集中度附加放大P0/P2/P3的资本占用；业务约束通过后仍只有P1守住11.50%。</a:t>
            </a:r>
          </a:p>
        </p:txBody>
      </p:sp>
      <p:sp>
        <p:nvSpPr>
          <p:cNvPr id="6" name="">
            <a:extLst>
              <a:ext uri="{FF2B5EF4-FFF2-40B4-BE49-F238E27FC236}">
                <ns2:creationId id="{764DCD1B-9CB6-46AB-8B75-CFB4B4920E08}"/>
              </a:ext>
            </a:extLst>
          </p:cNvPr>
          <p:cNvSpPr>
            <a:spLocks noGrp="1"/>
          </p:cNvSpPr>
          <p:nvPr/>
        </p:nvSpPr>
        <p:spPr>
          <a:xfrm>
            <a:off x="10906125" y="342900"/>
            <a:ext cx="6953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7 / 10</a:t>
            </a:r>
          </a:p>
        </p:txBody>
      </p:sp>
      <p:graphicFrame>
        <p:nvGraphicFramePr>
          <p:cNvPr id="19" name="Table_Page7_Audit_1" descr="候选组合审计表：P0至P3逐产品分配、业务关卡、集中度附加及资本结果，来源A01 08、A02第4页、A03第1页。"/>
          <p:cNvGraphicFramePr/>
          <p:nvPr/>
        </p:nvGraphicFramePr>
        <p:xfrm>
          <a:off x="609600" y="1676400"/>
          <a:ext cx="10972800" cy="2533650"/>
        </p:xfrm>
        <a:graphic>
          <a:graphicData uri="http://schemas.openxmlformats.org/drawingml/2006/table">
            <a:tbl>
              <a:tblPr/>
              <a:tblGrid>
                <a:gridCol w="1600200"/>
                <a:gridCol w="2343150"/>
                <a:gridCol w="2343150"/>
                <a:gridCol w="2343150"/>
                <a:gridCol w="2343150"/>
              </a:tblGrid>
              <a:tr h="281517">
                <a:tc>
                  <a:txBody>
                    <a:bodyPr/>
                    <a:lstStyle/>
                    <a:p>
                      <a:r>
                        <a:rPr sz="77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产品｜增速上限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7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新增额亿元｜实际增速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7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 新增额亿元｜实际增速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7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新增额亿元｜实际增速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7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新增额亿元｜实际增速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</a:tr>
              <a:tr h="281517"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对公｜≤8%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2290.99｜8.0000%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1377.66｜4.8107%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1102.13｜3.8486%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1928.73｜6.7350%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</a:tr>
              <a:tr h="281517"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小微｜≤12%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660.35｜8.0000%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440.85｜5.3408%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 b="1">
                          <a:solidFill>
                            <a:srgbClr val="BC3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1102.13｜13.3520% ×</a:t>
                      </a:r>
                    </a:p>
                  </a:txBody>
                  <a:tcPr marL="76200" marR="76200" marT="14288" marB="14288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661.28｜8.0112%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</a:tr>
              <a:tr h="281517"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按揭｜≤20%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1133.96｜8.0000%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2645.11｜18.6611%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1102.13｜7.7754%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1790.96｜12.6351%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</a:tr>
              <a:tr h="281517"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信用卡｜≤5%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 b="1">
                          <a:solidFill>
                            <a:srgbClr val="BC3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758.27｜8.0000% ×</a:t>
                      </a:r>
                    </a:p>
                  </a:txBody>
                  <a:tcPr marL="76200" marR="76200" marT="14288" marB="14288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220.43｜2.3256%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 b="1">
                          <a:solidFill>
                            <a:srgbClr val="BC3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1102.13｜11.6278% ×</a:t>
                      </a:r>
                    </a:p>
                  </a:txBody>
                  <a:tcPr marL="76200" marR="76200" marT="14288" marB="14288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440.85｜4.6511%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</a:tr>
              <a:tr h="281517"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消费｜≤6%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 b="1">
                          <a:solidFill>
                            <a:srgbClr val="BC3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316.93｜8.0000% ×</a:t>
                      </a:r>
                    </a:p>
                  </a:txBody>
                  <a:tcPr marL="76200" marR="76200" marT="14288" marB="14288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110.21｜2.7820%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 b="1">
                          <a:solidFill>
                            <a:srgbClr val="BC3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826.60｜20.8652% ×</a:t>
                      </a:r>
                    </a:p>
                  </a:txBody>
                  <a:tcPr marL="76200" marR="76200" marT="14288" marB="14288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220.43｜5.5641%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</a:tr>
              <a:tr h="281517"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其他｜≤10%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46.18｜8.0000%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0.00｜0.0000%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 b="1">
                          <a:solidFill>
                            <a:srgbClr val="BC3D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275.53｜47.7295% ×</a:t>
                      </a:r>
                    </a:p>
                  </a:txBody>
                  <a:tcPr marL="76200" marR="76200" marT="14288" marB="14288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27.55｜4.7729%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</a:tr>
              <a:tr h="281517"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票据｜≤20%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303.96｜8.0000%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716.38｜18.8547%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0.00｜0.0000%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440.85｜11.6029%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</a:tr>
              <a:tr h="281517"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合计｜权重和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5510.65｜100.00%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5510.65｜100.00%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5510.65｜100.00%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7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5510.65｜100.00%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_Page7_Audit_2" descr="候选组合审计表：P0至P3逐产品分配、业务关卡、集中度附加及资本结果，来源A01 08、A02第4页、A03第1页。"/>
          <p:cNvGraphicFramePr/>
          <p:nvPr/>
        </p:nvGraphicFramePr>
        <p:xfrm>
          <a:off x="609600" y="4362450"/>
          <a:ext cx="5581650" cy="1866900"/>
        </p:xfrm>
        <a:graphic>
          <a:graphicData uri="http://schemas.openxmlformats.org/drawingml/2006/table">
            <a:tbl>
              <a:tblPr/>
              <a:tblGrid>
                <a:gridCol w="1581150"/>
                <a:gridCol w="1000125"/>
                <a:gridCol w="1000125"/>
                <a:gridCol w="1000125"/>
                <a:gridCol w="1000125"/>
              </a:tblGrid>
              <a:tr h="373380"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筛选：业务→资本→K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业务关卡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76200" marR="76200" marT="14288" marB="14288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关键原因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按揭&lt;25%；卡+消&gt;15%；卡/消费增速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全部通过</a:t>
                      </a:r>
                    </a:p>
                  </a:txBody>
                  <a:tcPr marL="76200" marR="76200" marT="14288" marB="14288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按揭&lt;25%；卡+消&gt;15%；小微/卡/消费/其他增速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全部通过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11.50%资本关卡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76200" marR="76200" marT="14288" marB="14288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淘汰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237A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唯一入选</a:t>
                      </a:r>
                    </a:p>
                  </a:txBody>
                  <a:tcPr marL="76200" marR="76200" marT="14288" marB="14288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淘汰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淘汰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_Page7_Audit_3" descr="候选组合审计表：P0至P3逐产品分配、业务关卡、集中度附加及资本结果，来源A01 08、A02第4页、A03第1页。"/>
          <p:cNvGraphicFramePr/>
          <p:nvPr/>
        </p:nvGraphicFramePr>
        <p:xfrm>
          <a:off x="6419850" y="4362450"/>
          <a:ext cx="5162550" cy="1866900"/>
        </p:xfrm>
        <a:graphic>
          <a:graphicData uri="http://schemas.openxmlformats.org/drawingml/2006/table">
            <a:tbl>
              <a:tblPr/>
              <a:tblGrid>
                <a:gridCol w="1504950"/>
                <a:gridCol w="914400"/>
                <a:gridCol w="914400"/>
                <a:gridCol w="914400"/>
                <a:gridCol w="914400"/>
              </a:tblGrid>
              <a:tr h="311150">
                <a:tc>
                  <a:txBody>
                    <a:bodyPr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重度结果｜亿元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</a:t>
                      </a:r>
                    </a:p>
                  </a:txBody>
                  <a:tcPr marL="76200" marR="76200" marT="14288" marB="14288" anchor="ctr">
                    <a:solidFill>
                      <a:srgbClr val="13283F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基础RWA / 附加 / 总计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1,957.71 / 190.31 / 2,148.02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1,185.89 / 0 / 1,185.89</a:t>
                      </a:r>
                    </a:p>
                  </a:txBody>
                  <a:tcPr marL="76200" marR="76200" marT="14288" marB="14288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2,399.89 / 446.36 / 2,846.25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1,622.89 / 66.13 / 1,689.01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NII / EL / K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117.01 / 35.27 / 65.39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78.58 / 18.27 / 48.25</a:t>
                      </a:r>
                    </a:p>
                  </a:txBody>
                  <a:tcPr marL="76200" marR="76200" marT="14288" marB="14288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149.89 / 51.52 / 78.69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98.53 / 26.82 / 57.37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CET1资本 / RWA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9,724.03 / 85,361.44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9,706.89 / 84,399.32</a:t>
                      </a:r>
                    </a:p>
                  </a:txBody>
                  <a:tcPr marL="76200" marR="76200" marT="14288" marB="14288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9,737.33 / 86,059.68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9,716.00 / 84,902.44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组合后CET1率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11.3915925%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237A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11.5011466%</a:t>
                      </a:r>
                    </a:p>
                  </a:txBody>
                  <a:tcPr marL="76200" marR="76200" marT="14288" marB="14288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11.3146254%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11.4437275%</a:t>
                      </a:r>
                    </a:p>
                  </a:txBody>
                  <a:tcPr marL="76200" marR="76200" marT="14288" marB="14288" anchor="ctr">
                    <a:solidFill>
                      <a:srgbClr val="EEF1F4"/>
                    </a:solidFill>
                  </a:tcPr>
                </a:tc>
              </a:tr>
              <a:tr h="31115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底线金额 / bp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-92.538166 / -10.840745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+0.967750 / +0.114663</a:t>
                      </a:r>
                    </a:p>
                  </a:txBody>
                  <a:tcPr marL="76200" marR="76200" marT="14288" marB="14288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-159.532745 / -18.537456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-47.776723 / -5.627250</a:t>
                      </a:r>
                    </a:p>
                  </a:txBody>
                  <a:tcPr marL="76200" marR="76200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A58FDB82-F80B-4403-811D-EDC90D81A7C0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0"/>
          </a:xfrm>
          <a:prstGeom prst="line">
            <a:avLst/>
          </a:prstGeom>
          <a:noFill/>
          <a:ln w="9525">
            <a:solidFill>
              <a:srgbClr val="D7DFE7"/>
            </a:solidFill>
          </a:ln>
        </p:spPr>
      </p:sp>
      <p:sp>
        <p:nvSpPr>
          <p:cNvPr id="11" name="">
            <a:extLst>
              <a:ext uri="{FF2B5EF4-FFF2-40B4-BE49-F238E27FC236}">
                <ns2:creationId id="{1D2F7FC3-8D94-4419-9B64-271250081FD2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952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数据来源：附件A01的08_组合筛选；附件A02第4页；附件A03第1页。组合参数、附加、约束与阈值均为案例假设。</a:t>
            </a:r>
          </a:p>
        </p:txBody>
      </p:sp>
      <p:sp>
        <p:nvSpPr>
          <p:cNvPr id="12" name="">
            <a:extLst>
              <a:ext uri="{FF2B5EF4-FFF2-40B4-BE49-F238E27FC236}">
                <ns2:creationId id="{7293613F-D1E6-4AA7-A75D-0DFEA0C0DADD}"/>
              </a:ext>
            </a:extLst>
          </p:cNvPr>
          <p:cNvSpPr>
            <a:spLocks noGrp="1"/>
          </p:cNvSpPr>
          <p:nvPr/>
        </p:nvSpPr>
        <p:spPr>
          <a:xfrm>
            <a:off x="10191750" y="6543675"/>
            <a:ext cx="13906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TASK 190492  |  7</a:t>
            </a:r>
          </a:p>
        </p:txBody>
      </p:sp>
    </p:spTree>
    <p:extLst>
      <p:ext uri="{BB962C8B-B14F-4D97-AF65-F5344CB8AC3E}">
        <ns3:creationId val="904392480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">
            <a:extLst>
              <a:ext uri="{FF2B5EF4-FFF2-40B4-BE49-F238E27FC236}">
                <ns2:creationId id="{512E5AE4-1CCE-45D5-A243-69E017DB00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48000" cy="95250"/>
          </a:xfrm>
          <a:prstGeom prst="rect">
            <a:avLst/>
          </a:prstGeom>
          <a:solidFill>
            <a:srgbClr val="2BA4B4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FA96311C-B696-4258-BEEE-73DFE929C7FA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144000" cy="95250"/>
          </a:xfrm>
          <a:prstGeom prst="rect">
            <a:avLst/>
          </a:prstGeom>
          <a:solidFill>
            <a:srgbClr val="13283F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9E3F61B1-0311-4405-9AB3-8DDBF58E410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rPr>
              <a:t>08  OPTIMIZATION</a:t>
            </a:r>
          </a:p>
        </p:txBody>
      </p:sp>
      <p:sp>
        <p:nvSpPr>
          <p:cNvPr id="4" name="">
            <a:extLst>
              <a:ext uri="{FF2B5EF4-FFF2-40B4-BE49-F238E27FC236}">
                <ns2:creationId id="{2BE38E10-AD2B-4374-82E5-04FB49BD16F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最优组合：连续前沿、名义网格与鲁棒执行</a:t>
            </a:r>
          </a:p>
        </p:txBody>
      </p:sp>
      <p:sp>
        <p:nvSpPr>
          <p:cNvPr id="5" name="">
            <a:extLst>
              <a:ext uri="{FF2B5EF4-FFF2-40B4-BE49-F238E27FC236}">
                <ns2:creationId id="{527B97F9-378E-4F66-9999-E25784E720BC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集中度附加改写名义最优；Gamma=2进一步牺牲3.91亿元K，换取两项参数同时恶化仍守底线。</a:t>
            </a:r>
          </a:p>
        </p:txBody>
      </p:sp>
      <p:sp>
        <p:nvSpPr>
          <p:cNvPr id="6" name="">
            <a:extLst>
              <a:ext uri="{FF2B5EF4-FFF2-40B4-BE49-F238E27FC236}">
                <ns2:creationId id="{65A4F63B-6DDB-4811-A58B-55D4F82E0432}"/>
              </a:ext>
            </a:extLst>
          </p:cNvPr>
          <p:cNvSpPr>
            <a:spLocks noGrp="1"/>
          </p:cNvSpPr>
          <p:nvPr/>
        </p:nvSpPr>
        <p:spPr>
          <a:xfrm>
            <a:off x="10906125" y="342900"/>
            <a:ext cx="6953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8 / 10</a:t>
            </a:r>
          </a:p>
        </p:txBody>
      </p:sp>
      <p:sp>
        <p:nvSpPr>
          <p:cNvPr id="7" name="">
            <a:extLst>
              <a:ext uri="{FF2B5EF4-FFF2-40B4-BE49-F238E27FC236}">
                <ns2:creationId id="{A1253BBE-CE9A-4938-8E93-2A4D54525C64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81025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7DFE7"/>
            </a:solidFill>
          </a:ln>
        </p:spPr>
      </p:sp>
      <p:sp>
        <p:nvSpPr>
          <p:cNvPr id="8" name="">
            <a:extLst>
              <a:ext uri="{FF2B5EF4-FFF2-40B4-BE49-F238E27FC236}">
                <ns2:creationId id="{10F70E70-B34A-4676-90E3-9285F3E0F447}"/>
              </a:ext>
            </a:extLst>
          </p:cNvPr>
          <p:cNvSpPr>
            <a:spLocks noGrp="1"/>
          </p:cNvSpPr>
          <p:nvPr/>
        </p:nvSpPr>
        <p:spPr>
          <a:xfrm>
            <a:off x="819150" y="18288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13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七产品权重与P^rob实际增速</a:t>
            </a:r>
          </a:p>
        </p:txBody>
      </p:sp>
      <p:graphicFrame>
        <p:nvGraphicFramePr>
          <p:cNvPr id="39" name="Table_Page8_Audit_1" descr="组合优化审计表：P^cont、P^nom和P^rob的权重、名义指标与Gamma=2双路径复核，来源A01、A02与A03。"/>
          <p:cNvGraphicFramePr/>
          <p:nvPr/>
        </p:nvGraphicFramePr>
        <p:xfrm>
          <a:off x="781050" y="2171700"/>
          <a:ext cx="5467350" cy="2400300"/>
        </p:xfrm>
        <a:graphic>
          <a:graphicData uri="http://schemas.openxmlformats.org/drawingml/2006/table">
            <a:tbl>
              <a:tblPr/>
              <a:tblGrid>
                <a:gridCol w="857250"/>
                <a:gridCol w="1028700"/>
                <a:gridCol w="904875"/>
                <a:gridCol w="1352550"/>
                <a:gridCol w="1323975"/>
              </a:tblGrid>
              <a:tr h="300038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P^cont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P^nom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P^rob(Gamma=2)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P^rob实际增速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对公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32.0176%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32.0%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5.7729%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小微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0.0000%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0.0000%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按揭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51.4440%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51.0%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19.8274%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信用卡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8.0000%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4.5%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2.6162%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0.0000%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0.0%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1.3910%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1.0476%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0.0000%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票据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7.4908%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8.0%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13.5%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19.5799%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DD83375C-EA72-4785-90BE-0E10371BFCE7}"/>
              </a:ext>
            </a:extLst>
          </p:cNvPr>
          <p:cNvSpPr>
            <a:spLocks noGrp="1"/>
          </p:cNvSpPr>
          <p:nvPr/>
        </p:nvSpPr>
        <p:spPr>
          <a:xfrm>
            <a:off x="781050" y="4705350"/>
            <a:ext cx="5467350" cy="647700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 w="9525">
            <a:solidFill>
              <a:srgbClr val="D7DFE7"/>
            </a:solidFill>
          </a:ln>
        </p:spPr>
      </p:sp>
      <p:sp>
        <p:nvSpPr>
          <p:cNvPr id="11" name="">
            <a:extLst>
              <a:ext uri="{FF2B5EF4-FFF2-40B4-BE49-F238E27FC236}">
                <ns2:creationId id="{8D5112F5-132B-4C34-85A5-E648B2237391}"/>
              </a:ext>
            </a:extLst>
          </p:cNvPr>
          <p:cNvSpPr>
            <a:spLocks noGrp="1"/>
          </p:cNvSpPr>
          <p:nvPr/>
        </p:nvSpPr>
        <p:spPr>
          <a:xfrm>
            <a:off x="933450" y="4810125"/>
            <a:ext cx="95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rPr>
              <a:t>有效约束</a:t>
            </a:r>
          </a:p>
        </p:txBody>
      </p:sp>
      <p:sp>
        <p:nvSpPr>
          <p:cNvPr id="12" name="">
            <a:extLst>
              <a:ext uri="{FF2B5EF4-FFF2-40B4-BE49-F238E27FC236}">
                <ns2:creationId id="{9831E665-ADA7-4D1F-AB7F-7EA4D0A3D4DE}"/>
              </a:ext>
            </a:extLst>
          </p:cNvPr>
          <p:cNvSpPr>
            <a:spLocks noGrp="1"/>
          </p:cNvSpPr>
          <p:nvPr/>
        </p:nvSpPr>
        <p:spPr>
          <a:xfrm>
            <a:off x="1866900" y="4772025"/>
            <a:ext cx="42291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713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P^cont增速：6.1611/0/20/4.6511/0/10/10.8644%；按揭/其他上限，U=8%，资本有效。</a:t>
            </a:r>
          </a:p>
        </p:txBody>
      </p:sp>
      <p:sp>
        <p:nvSpPr>
          <p:cNvPr id="13" name="">
            <a:extLst>
              <a:ext uri="{FF2B5EF4-FFF2-40B4-BE49-F238E27FC236}">
                <ns2:creationId id="{2E2CF64B-2A0F-4D2E-BD9E-C8A3BBABC6F6}"/>
              </a:ext>
            </a:extLst>
          </p:cNvPr>
          <p:cNvSpPr>
            <a:spLocks noGrp="1"/>
          </p:cNvSpPr>
          <p:nvPr/>
        </p:nvSpPr>
        <p:spPr>
          <a:xfrm>
            <a:off x="1866900" y="5038725"/>
            <a:ext cx="4229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713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P^nom增速：6.1577/0/19.8274/4.6511/0/9.5459/11.6029%；约束通过，附加=0。</a:t>
            </a:r>
          </a:p>
        </p:txBody>
      </p:sp>
      <p:sp>
        <p:nvSpPr>
          <p:cNvPr id="14" name="">
            <a:extLst>
              <a:ext uri="{FF2B5EF4-FFF2-40B4-BE49-F238E27FC236}">
                <ns2:creationId id="{70E215F6-5BF0-4EAB-8C6F-53A71D63D9A1}"/>
              </a:ext>
            </a:extLst>
          </p:cNvPr>
          <p:cNvSpPr>
            <a:spLocks noGrp="1"/>
          </p:cNvSpPr>
          <p:nvPr/>
        </p:nvSpPr>
        <p:spPr>
          <a:xfrm>
            <a:off x="6610350" y="1676400"/>
            <a:ext cx="4972050" cy="1085850"/>
          </a:xfrm>
          <a:prstGeom prst="roundRect">
            <a:avLst>
              <a:gd name="adj" fmla="val 7018"/>
            </a:avLst>
          </a:prstGeom>
          <a:solidFill>
            <a:srgbClr val="13283F"/>
          </a:solidFill>
          <a:ln w="0">
            <a:solidFill>
              <a:srgbClr val="13283F"/>
            </a:solidFill>
          </a:ln>
        </p:spPr>
      </p:sp>
      <p:sp>
        <p:nvSpPr>
          <p:cNvPr id="15" name="">
            <a:extLst>
              <a:ext uri="{FF2B5EF4-FFF2-40B4-BE49-F238E27FC236}">
                <ns2:creationId id="{F493DB54-8A22-41C0-B09E-1B77C95724D0}"/>
              </a:ext>
            </a:extLst>
          </p:cNvPr>
          <p:cNvSpPr>
            <a:spLocks noGrp="1"/>
          </p:cNvSpPr>
          <p:nvPr/>
        </p:nvSpPr>
        <p:spPr>
          <a:xfrm>
            <a:off x="6819900" y="18097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88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rPr>
              <a:t>A03分段附加与四级破同</a:t>
            </a:r>
          </a:p>
        </p:txBody>
      </p:sp>
      <p:sp>
        <p:nvSpPr>
          <p:cNvPr id="16" name="">
            <a:extLst>
              <a:ext uri="{FF2B5EF4-FFF2-40B4-BE49-F238E27FC236}">
                <ns2:creationId id="{5F46C33B-9C36-4BB3-AF96-9FE1E4791016}"/>
              </a:ext>
            </a:extLst>
          </p:cNvPr>
          <p:cNvSpPr>
            <a:spLocks noGrp="1"/>
          </p:cNvSpPr>
          <p:nvPr/>
        </p:nvSpPr>
        <p:spPr>
          <a:xfrm>
            <a:off x="6819900" y="2057400"/>
            <a:ext cx="4533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RWA_add=30%×G×MAX(卡+消费−8%,0)</a:t>
            </a:r>
          </a:p>
        </p:txBody>
      </p:sp>
      <p:sp>
        <p:nvSpPr>
          <p:cNvPr id="17" name="">
            <a:extLst>
              <a:ext uri="{FF2B5EF4-FFF2-40B4-BE49-F238E27FC236}">
                <ns2:creationId id="{A8849A36-2758-4FC7-B039-906C26FA1032}"/>
              </a:ext>
            </a:extLst>
          </p:cNvPr>
          <p:cNvSpPr>
            <a:spLocks noGrp="1"/>
          </p:cNvSpPr>
          <p:nvPr/>
        </p:nvSpPr>
        <p:spPr>
          <a:xfrm>
            <a:off x="6819900" y="2343150"/>
            <a:ext cx="4533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40" b="0">
                <a:solidFill>
                  <a:srgbClr val="D8E4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D8E4EC"/>
                </a:solidFill>
                <a:latin typeface="Microsoft YaHei"/>
                <a:ea typeface="Microsoft YaHei"/>
                <a:cs typeface="Microsoft YaHei"/>
              </a:rPr>
              <a:t>K高 → 总计划RWA低 → 附加RWA低 → 按揭权重高</a:t>
            </a:r>
          </a:p>
        </p:txBody>
      </p:sp>
      <p:sp>
        <p:nvSpPr>
          <p:cNvPr id="18" name="">
            <a:extLst>
              <a:ext uri="{FF2B5EF4-FFF2-40B4-BE49-F238E27FC236}">
                <ns2:creationId id="{0A0CAD13-4A78-4AB8-AC74-E76BFE5B5029}"/>
              </a:ext>
            </a:extLst>
          </p:cNvPr>
          <p:cNvSpPr>
            <a:spLocks noGrp="1"/>
          </p:cNvSpPr>
          <p:nvPr/>
        </p:nvSpPr>
        <p:spPr>
          <a:xfrm>
            <a:off x="6819900" y="2514600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645" b="1">
                <a:solidFill>
                  <a:srgbClr val="FFD2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1">
                <a:solidFill>
                  <a:srgbClr val="FFD2B0"/>
                </a:solidFill>
                <a:latin typeface="Microsoft YaHei"/>
                <a:ea typeface="Microsoft YaHei"/>
                <a:cs typeface="Microsoft YaHei"/>
              </a:rPr>
              <a:t>旧网格29.5/0.5/51/8.5/1.5/0/9%；加附加33.0639亿元后：CET1 11.4956391%，H=-3.6832亿元</a:t>
            </a:r>
          </a:p>
        </p:txBody>
      </p:sp>
      <p:graphicFrame>
        <p:nvGraphicFramePr>
          <p:cNvPr id="49" name="Table_Page8_Audit_2" descr="组合优化审计表：P^cont、P^nom和P^rob的权重、名义指标与Gamma=2双路径复核，来源A01、A02与A03。"/>
          <p:cNvGraphicFramePr/>
          <p:nvPr/>
        </p:nvGraphicFramePr>
        <p:xfrm>
          <a:off x="6610350" y="2933700"/>
          <a:ext cx="4972050" cy="1714500"/>
        </p:xfrm>
        <a:graphic>
          <a:graphicData uri="http://schemas.openxmlformats.org/drawingml/2006/table">
            <a:tbl>
              <a:tblPr/>
              <a:tblGrid>
                <a:gridCol w="1352550"/>
                <a:gridCol w="1200150"/>
                <a:gridCol w="1200150"/>
                <a:gridCol w="1219200"/>
              </a:tblGrid>
              <a:tr h="342900"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名义口径｜亿元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P^cont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P^nom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P^rob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基础｜附加｜总计划RWA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1,211.6172｜0｜1,211.6172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1,209.0370｜0｜1,209.0370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1,063.0048｜0｜1,063.0048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NII｜EL｜K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82.8303｜20.0279｜50.2419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82.6598｜19.9761｜50.1469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73.5121｜15.7191｜46.2344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CET1资本｜RWA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9,708.8798｜84,425.0417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9,708.7849｜84,422.4616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9,704.8723｜84,276.4294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CET1率｜H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11.5000000%｜0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11.5002390%｜0.2018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11.5155238%｜13.0829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>
              <a:ext uri="{FF2B5EF4-FFF2-40B4-BE49-F238E27FC236}">
                <ns2:creationId id="{939177E2-0CAE-42F4-827E-46B918BBD045}"/>
              </a:ext>
            </a:extLst>
          </p:cNvPr>
          <p:cNvSpPr>
            <a:spLocks noGrp="1"/>
          </p:cNvSpPr>
          <p:nvPr/>
        </p:nvSpPr>
        <p:spPr>
          <a:xfrm>
            <a:off x="6610350" y="4819650"/>
            <a:ext cx="4972050" cy="819150"/>
          </a:xfrm>
          <a:prstGeom prst="roundRect">
            <a:avLst>
              <a:gd name="adj" fmla="val 9302"/>
            </a:avLst>
          </a:prstGeom>
          <a:solidFill>
            <a:srgbClr val="FFF3E5"/>
          </a:solidFill>
          <a:ln w="9525">
            <a:solidFill>
              <a:srgbClr val="D7DFE7"/>
            </a:solidFill>
          </a:ln>
        </p:spPr>
      </p:sp>
      <p:sp>
        <p:nvSpPr>
          <p:cNvPr id="21" name="">
            <a:extLst>
              <a:ext uri="{FF2B5EF4-FFF2-40B4-BE49-F238E27FC236}">
                <ns2:creationId id="{4A16E05F-71C6-4462-B1EE-B47EACD20F88}"/>
              </a:ext>
            </a:extLst>
          </p:cNvPr>
          <p:cNvSpPr>
            <a:spLocks noGrp="1"/>
          </p:cNvSpPr>
          <p:nvPr/>
        </p:nvSpPr>
        <p:spPr>
          <a:xfrm>
            <a:off x="6781800" y="4895850"/>
            <a:ext cx="180975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15" b="1">
                <a:solidFill>
                  <a:srgbClr val="DD7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DD7A00"/>
                </a:solidFill>
                <a:latin typeface="Microsoft YaHei"/>
                <a:ea typeface="Microsoft YaHei"/>
                <a:cs typeface="Microsoft YaHei"/>
              </a:rPr>
              <a:t>Gamma=2双路径复核</a:t>
            </a:r>
          </a:p>
        </p:txBody>
      </p:sp>
      <p:sp>
        <p:nvSpPr>
          <p:cNvPr id="22" name="">
            <a:extLst>
              <a:ext uri="{FF2B5EF4-FFF2-40B4-BE49-F238E27FC236}">
                <ns2:creationId id="{1A8FCE4A-CDC4-4BC7-B68A-152B17E8274C}"/>
              </a:ext>
            </a:extLst>
          </p:cNvPr>
          <p:cNvSpPr>
            <a:spLocks noGrp="1"/>
          </p:cNvSpPr>
          <p:nvPr/>
        </p:nvSpPr>
        <p:spPr>
          <a:xfrm>
            <a:off x="6781800" y="5086350"/>
            <a:ext cx="462915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623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23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最坏项：对公7.290593 + 按揭5.747335 = U2 13.037927；路径1：13.082918−13.037927=0.044991亿元</a:t>
            </a:r>
          </a:p>
        </p:txBody>
      </p:sp>
      <p:sp>
        <p:nvSpPr>
          <p:cNvPr id="23" name="">
            <a:extLst>
              <a:ext uri="{FF2B5EF4-FFF2-40B4-BE49-F238E27FC236}">
                <ns2:creationId id="{5209DF39-BC2D-4965-8B09-037CE061C026}"/>
              </a:ext>
            </a:extLst>
          </p:cNvPr>
          <p:cNvSpPr>
            <a:spLocks noGrp="1"/>
          </p:cNvSpPr>
          <p:nvPr/>
        </p:nvSpPr>
        <p:spPr>
          <a:xfrm>
            <a:off x="6781800" y="5248275"/>
            <a:ext cx="462915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67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162231"/>
                </a:solidFill>
                <a:latin typeface="Microsoft YaHei"/>
                <a:ea typeface="Microsoft YaHei"/>
                <a:cs typeface="Microsoft YaHei"/>
              </a:rPr>
              <a:t>路径2冲击：ΔEL2 3.108008亿元；ΔRWA2 91.752356亿元</a:t>
            </a:r>
          </a:p>
        </p:txBody>
      </p:sp>
      <p:sp>
        <p:nvSpPr>
          <p:cNvPr id="24" name="">
            <a:extLst>
              <a:ext uri="{FF2B5EF4-FFF2-40B4-BE49-F238E27FC236}">
                <ns2:creationId id="{5C60BFB8-3AC6-47A5-8A77-8DE1379155F9}"/>
              </a:ext>
            </a:extLst>
          </p:cNvPr>
          <p:cNvSpPr>
            <a:spLocks noGrp="1"/>
          </p:cNvSpPr>
          <p:nvPr/>
        </p:nvSpPr>
        <p:spPr>
          <a:xfrm>
            <a:off x="6781800" y="5410200"/>
            <a:ext cx="462915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93" b="1">
                <a:solidFill>
                  <a:srgbClr val="BC3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3" b="1">
                <a:solidFill>
                  <a:srgbClr val="BC3D3D"/>
                </a:solidFill>
                <a:latin typeface="Microsoft YaHei"/>
                <a:ea typeface="Microsoft YaHei"/>
                <a:cs typeface="Microsoft YaHei"/>
              </a:rPr>
              <a:t>路径2：鲁棒CET1 9,702.385887−11.50%×RWA 84,368.181707=H 0.044991亿元；率11.5000533%</a:t>
            </a:r>
          </a:p>
        </p:txBody>
      </p:sp>
      <p:sp>
        <p:nvSpPr>
          <p:cNvPr id="25" name="">
            <a:extLst>
              <a:ext uri="{FF2B5EF4-FFF2-40B4-BE49-F238E27FC236}">
                <ns2:creationId id="{05761171-46B0-46ED-A339-C91CEB215432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972800" cy="533400"/>
          </a:xfrm>
          <a:prstGeom prst="roundRect">
            <a:avLst>
              <a:gd name="adj" fmla="val 14286"/>
            </a:avLst>
          </a:prstGeom>
          <a:solidFill>
            <a:srgbClr val="13283F"/>
          </a:solidFill>
          <a:ln w="0">
            <a:solidFill>
              <a:srgbClr val="13283F"/>
            </a:solidFill>
          </a:ln>
        </p:spPr>
      </p:sp>
      <p:sp>
        <p:nvSpPr>
          <p:cNvPr id="26" name="">
            <a:extLst>
              <a:ext uri="{FF2B5EF4-FFF2-40B4-BE49-F238E27FC236}">
                <ns2:creationId id="{B0DE7FED-428A-481B-BA1F-2EE01E52639F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rPr>
              <a:t>离散与稳健成本</a:t>
            </a:r>
          </a:p>
        </p:txBody>
      </p:sp>
      <p:sp>
        <p:nvSpPr>
          <p:cNvPr id="27" name="">
            <a:extLst>
              <a:ext uri="{FF2B5EF4-FFF2-40B4-BE49-F238E27FC236}">
                <ns2:creationId id="{4BB361FE-D741-475A-A88D-ED2F0A5D2C3B}"/>
              </a:ext>
            </a:extLst>
          </p:cNvPr>
          <p:cNvSpPr>
            <a:spLocks noGrp="1"/>
          </p:cNvSpPr>
          <p:nvPr/>
        </p:nvSpPr>
        <p:spPr>
          <a:xfrm>
            <a:off x="2381250" y="5791200"/>
            <a:ext cx="8953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1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P^cont−P^nom：ΔK=0.094945亿元、ΔRWA=2.580120亿元；P^nom−P^rob：稳健成本=3.912563亿元。</a:t>
            </a:r>
          </a:p>
        </p:txBody>
      </p:sp>
      <p:sp>
        <p:nvSpPr>
          <p:cNvPr id="28" name="">
            <a:extLst>
              <a:ext uri="{FF2B5EF4-FFF2-40B4-BE49-F238E27FC236}">
                <ns2:creationId id="{456AF970-A287-43A4-A513-5B50D4CF8D18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0"/>
          </a:xfrm>
          <a:prstGeom prst="line">
            <a:avLst/>
          </a:prstGeom>
          <a:noFill/>
          <a:ln w="9525">
            <a:solidFill>
              <a:srgbClr val="D7DFE7"/>
            </a:solidFill>
          </a:ln>
        </p:spPr>
      </p:sp>
      <p:sp>
        <p:nvSpPr>
          <p:cNvPr id="29" name="">
            <a:extLst>
              <a:ext uri="{FF2B5EF4-FFF2-40B4-BE49-F238E27FC236}">
                <ns2:creationId id="{51F1AF7D-4095-40D2-8F40-02035BE3E2FF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952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数据来源：附件A01的08_组合筛选；附件A02第4、6页；附件A03第1至2页。全部优化和排序使用未舍入百万元值。</a:t>
            </a:r>
          </a:p>
        </p:txBody>
      </p:sp>
      <p:sp>
        <p:nvSpPr>
          <p:cNvPr id="30" name="">
            <a:extLst>
              <a:ext uri="{FF2B5EF4-FFF2-40B4-BE49-F238E27FC236}">
                <ns2:creationId id="{03793048-9514-4210-96D6-B6CCADE6C338}"/>
              </a:ext>
            </a:extLst>
          </p:cNvPr>
          <p:cNvSpPr>
            <a:spLocks noGrp="1"/>
          </p:cNvSpPr>
          <p:nvPr/>
        </p:nvSpPr>
        <p:spPr>
          <a:xfrm>
            <a:off x="10191750" y="6543675"/>
            <a:ext cx="13906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TASK 190492  |  8</a:t>
            </a:r>
          </a:p>
        </p:txBody>
      </p:sp>
    </p:spTree>
    <p:extLst>
      <p:ext uri="{BB962C8B-B14F-4D97-AF65-F5344CB8AC3E}">
        <ns3:creationId val="974932023"/>
      </p:ext>
    </p:extLst>
  </p:cSld>
</p:sld>
</file>

<file path=ppt/slides/slide9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3B977D96-7187-4B82-8623-270B17FF6D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48000" cy="95250"/>
          </a:xfrm>
          <a:prstGeom prst="rect">
            <a:avLst/>
          </a:prstGeom>
          <a:solidFill>
            <a:srgbClr val="2BA4B4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2DA2D13C-A037-4C89-85A1-A19B63F392A8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144000" cy="95250"/>
          </a:xfrm>
          <a:prstGeom prst="rect">
            <a:avLst/>
          </a:prstGeom>
          <a:solidFill>
            <a:srgbClr val="13283F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EBF9B35F-72B0-4A42-8194-4231F76ADE4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rPr>
              <a:t>09  ROBUST FRONTIER</a:t>
            </a:r>
          </a:p>
        </p:txBody>
      </p:sp>
      <p:sp>
        <p:nvSpPr>
          <p:cNvPr id="4" name="">
            <a:extLst>
              <a:ext uri="{FF2B5EF4-FFF2-40B4-BE49-F238E27FC236}">
                <ns2:creationId id="{82B831BE-0AFA-4413-9E28-0F953DFE375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参数风险预算：Gamma前沿与执行选择</a:t>
            </a:r>
          </a:p>
        </p:txBody>
      </p:sp>
      <p:sp>
        <p:nvSpPr>
          <p:cNvPr id="5" name="">
            <a:extLst>
              <a:ext uri="{FF2B5EF4-FFF2-40B4-BE49-F238E27FC236}">
                <ns2:creationId id="{63E5CFD8-F684-457B-8472-EE037C6DB5F8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Gamma从0增至3时，资本可行方案主动让渡K；指定Gamma=2在收益与双参数覆盖之间取中间点。</a:t>
            </a:r>
          </a:p>
        </p:txBody>
      </p:sp>
      <p:sp>
        <p:nvSpPr>
          <p:cNvPr id="6" name="">
            <a:extLst>
              <a:ext uri="{FF2B5EF4-FFF2-40B4-BE49-F238E27FC236}">
                <ns2:creationId id="{A06502CD-FF5D-47C5-83B7-0F53204EE50F}"/>
              </a:ext>
            </a:extLst>
          </p:cNvPr>
          <p:cNvSpPr>
            <a:spLocks noGrp="1"/>
          </p:cNvSpPr>
          <p:nvPr/>
        </p:nvSpPr>
        <p:spPr>
          <a:xfrm>
            <a:off x="10906125" y="342900"/>
            <a:ext cx="6953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9 / 10</a:t>
            </a:r>
          </a:p>
        </p:txBody>
      </p:sp>
      <p:sp>
        <p:nvSpPr>
          <p:cNvPr id="7" name="">
            <a:extLst>
              <a:ext uri="{FF2B5EF4-FFF2-40B4-BE49-F238E27FC236}">
                <ns2:creationId id="{29FF45C2-C786-41FF-91E6-AE515B8EE63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57200"/>
          </a:xfrm>
          <a:prstGeom prst="roundRect">
            <a:avLst>
              <a:gd name="adj" fmla="val 16667"/>
            </a:avLst>
          </a:prstGeom>
          <a:solidFill>
            <a:srgbClr val="13283F"/>
          </a:solidFill>
          <a:ln w="0">
            <a:solidFill>
              <a:srgbClr val="13283F"/>
            </a:solidFill>
          </a:ln>
        </p:spPr>
      </p:sp>
      <p:sp>
        <p:nvSpPr>
          <p:cNvPr id="8" name="">
            <a:extLst>
              <a:ext uri="{FF2B5EF4-FFF2-40B4-BE49-F238E27FC236}">
                <ns2:creationId id="{937FFD7E-C69B-43A3-B9C4-7C55CB9BD347}"/>
              </a:ext>
            </a:extLst>
          </p:cNvPr>
          <p:cNvSpPr>
            <a:spLocks noGrp="1"/>
          </p:cNvSpPr>
          <p:nvPr/>
        </p:nvSpPr>
        <p:spPr>
          <a:xfrm>
            <a:off x="800100" y="1733550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13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rPr>
              <a:t>鲁棒约束</a:t>
            </a:r>
          </a:p>
        </p:txBody>
      </p:sp>
      <p:sp>
        <p:nvSpPr>
          <p:cNvPr id="9" name="">
            <a:extLst>
              <a:ext uri="{FF2B5EF4-FFF2-40B4-BE49-F238E27FC236}">
                <ns2:creationId id="{0CDFA5E7-C051-4605-AC33-8814AA9318EA}"/>
              </a:ext>
            </a:extLst>
          </p:cNvPr>
          <p:cNvSpPr>
            <a:spLocks noGrp="1"/>
          </p:cNvSpPr>
          <p:nvPr/>
        </p:nvSpPr>
        <p:spPr>
          <a:xfrm>
            <a:off x="1752600" y="1695450"/>
            <a:ext cx="9582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u_i=G×w_i×[0.80×deltaEL_i/10,000 + 11.50%×deltaRho_i/100]；U_Gamma=最大Gamma个u_i之和；H_Gamma=H_nom−U_Gamma≥0</a:t>
            </a:r>
          </a:p>
        </p:txBody>
      </p:sp>
      <p:graphicFrame>
        <p:nvGraphicFramePr>
          <p:cNvPr id="30" name="Table_Page9_Audit_1" descr="Gamma前沿审计表：Gamma 0至3的权重、最坏产品集、K、U_Gamma、鲁棒H和稳健成本，来源A03第2页。"/>
          <p:cNvGraphicFramePr/>
          <p:nvPr/>
        </p:nvGraphicFramePr>
        <p:xfrm>
          <a:off x="609600" y="2209800"/>
          <a:ext cx="10972800" cy="1562100"/>
        </p:xfrm>
        <a:graphic>
          <a:graphicData uri="http://schemas.openxmlformats.org/drawingml/2006/table">
            <a:tbl>
              <a:tblPr/>
              <a:tblGrid>
                <a:gridCol w="838200"/>
                <a:gridCol w="1000125"/>
                <a:gridCol w="876300"/>
                <a:gridCol w="1000125"/>
                <a:gridCol w="1028700"/>
                <a:gridCol w="914400"/>
                <a:gridCol w="857250"/>
                <a:gridCol w="1000125"/>
                <a:gridCol w="3457575"/>
              </a:tblGrid>
              <a:tr h="312420"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Gamma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对公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小微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按揭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信用卡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票据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最坏产品集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32.0%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51.0%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8.0%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1.0%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8.0%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7.0%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对公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r>
                        <a:rPr sz="832" b="1">
                          <a:solidFill>
                            <a:srgbClr val="237A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2｜执行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4.5%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13.5%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对公、按揭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31.0%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13.5%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2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对公、按揭、消费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>
              <a:ext uri="{FF2B5EF4-FFF2-40B4-BE49-F238E27FC236}">
                <ns2:creationId id="{A3C29C7E-EFAC-4410-8555-3AD3BEE89DEE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512445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7DFE7"/>
            </a:solidFill>
          </a:ln>
        </p:spPr>
      </p:sp>
      <p:sp>
        <p:nvSpPr>
          <p:cNvPr id="12" name="">
            <a:extLst>
              <a:ext uri="{FF2B5EF4-FFF2-40B4-BE49-F238E27FC236}">
                <ns2:creationId id="{EEAD0693-59D8-4537-90A1-ABCB1D45885A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税后资本贡献K前沿｜亿元</a:t>
            </a:r>
          </a:p>
        </p:txBody>
      </p:sp>
      <p:graphicFrame>
        <p:nvGraphicFramePr>
          <p:cNvPr id="33" name="Chart_Page9_GammaScatter" descr="原生XY散点图：横轴为Gamma数值0至3，纵轴为税后资本贡献K，单独标记Gamma=2执行组合P^rob，来源A01 08、A02第4和6页、A03第2页。"/>
          <p:cNvGraphicFramePr/>
          <p:nvPr/>
        </p:nvGraphicFramePr>
        <p:xfrm>
          <a:off x="762000" y="4324350"/>
          <a:ext cx="4781550" cy="1219200"/>
        </p:xfrm>
        <a:graphic>
          <a:graphicData uri="http://schemas.openxmlformats.org/drawingml/2006/chart">
            <c:chart r:id="Rad9cca1b59764c91"/>
          </a:graphicData>
        </a:graphic>
      </p:graphicFrame>
      <p:graphicFrame>
        <p:nvGraphicFramePr>
          <p:cNvPr id="34" name="Table_Page9_Audit_2" descr="Gamma前沿审计表：Gamma 0至3的权重、最坏产品集、K、U_Gamma、鲁棒H和稳健成本，来源A03第2页。"/>
          <p:cNvGraphicFramePr/>
          <p:nvPr/>
        </p:nvGraphicFramePr>
        <p:xfrm>
          <a:off x="5962650" y="3962400"/>
          <a:ext cx="5619750" cy="1752600"/>
        </p:xfrm>
        <a:graphic>
          <a:graphicData uri="http://schemas.openxmlformats.org/drawingml/2006/table">
            <a:tbl>
              <a:tblPr/>
              <a:tblGrid>
                <a:gridCol w="704850"/>
                <a:gridCol w="990600"/>
                <a:gridCol w="1066800"/>
                <a:gridCol w="990600"/>
                <a:gridCol w="952500"/>
                <a:gridCol w="914400"/>
              </a:tblGrid>
              <a:tr h="350520"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Gamma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U_Gamma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鲁棒H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稳健成本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鲁棒CET1率</a:t>
                      </a:r>
                    </a:p>
                  </a:txBody>
                  <a:tcPr marL="76200" marR="76200" marT="19050" marB="19050" anchor="ctr">
                    <a:solidFill>
                      <a:srgbClr val="13283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50.1469332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0.2017691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11.5002390%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48.2843328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7.2905926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0.0791571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1.8626004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11.5000938%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46.2343703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13.0379271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0.0449910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3.9125629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11.5000533%</a:t>
                      </a:r>
                    </a:p>
                  </a:txBody>
                  <a:tcPr marL="76200" marR="76200" marT="19050" marB="19050" anchor="ctr">
                    <a:solidFill>
                      <a:srgbClr val="EAF6F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45.3747086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14.5490856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0.0506395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4.7722246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20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11.5000600%</a:t>
                      </a:r>
                    </a:p>
                  </a:txBody>
                  <a:tcPr marL="76200" marR="76200" marT="19050" marB="19050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>
              <a:ext uri="{FF2B5EF4-FFF2-40B4-BE49-F238E27FC236}">
                <ns2:creationId id="{667BD2CD-C36B-4CCF-BE3A-76FEB4A25398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72800" cy="342900"/>
          </a:xfrm>
          <a:prstGeom prst="roundRect">
            <a:avLst>
              <a:gd name="adj" fmla="val 22222"/>
            </a:avLst>
          </a:prstGeom>
          <a:solidFill>
            <a:srgbClr val="13283F"/>
          </a:solidFill>
          <a:ln w="0">
            <a:solidFill>
              <a:srgbClr val="13283F"/>
            </a:solidFill>
          </a:ln>
        </p:spPr>
      </p:sp>
      <p:sp>
        <p:nvSpPr>
          <p:cNvPr id="16" name="">
            <a:extLst>
              <a:ext uri="{FF2B5EF4-FFF2-40B4-BE49-F238E27FC236}">
                <ns2:creationId id="{D0279D83-BFCE-4F0A-91E2-051BA2C44D03}"/>
              </a:ext>
            </a:extLst>
          </p:cNvPr>
          <p:cNvSpPr>
            <a:spLocks noGrp="1"/>
          </p:cNvSpPr>
          <p:nvPr/>
        </p:nvSpPr>
        <p:spPr>
          <a:xfrm>
            <a:off x="800100" y="5962650"/>
            <a:ext cx="1047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rPr>
              <a:t>执行结论</a:t>
            </a:r>
          </a:p>
        </p:txBody>
      </p:sp>
      <p:sp>
        <p:nvSpPr>
          <p:cNvPr id="17" name="">
            <a:extLst>
              <a:ext uri="{FF2B5EF4-FFF2-40B4-BE49-F238E27FC236}">
                <ns2:creationId id="{A5FE2787-71CE-4826-A279-1DE96369333F}"/>
              </a:ext>
            </a:extLst>
          </p:cNvPr>
          <p:cNvSpPr>
            <a:spLocks noGrp="1"/>
          </p:cNvSpPr>
          <p:nvPr/>
        </p:nvSpPr>
        <p:spPr>
          <a:xfrm>
            <a:off x="1847850" y="5924550"/>
            <a:ext cx="95059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选择Gamma=2的P^rob：覆盖对公与按揭两项最不利参数，较Gamma=0让渡3.912563亿元K；Gamma=3的边际稳健收益不足以覆盖新增成本。</a:t>
            </a:r>
          </a:p>
        </p:txBody>
      </p:sp>
      <p:sp>
        <p:nvSpPr>
          <p:cNvPr id="18" name="">
            <a:extLst>
              <a:ext uri="{FF2B5EF4-FFF2-40B4-BE49-F238E27FC236}">
                <ns2:creationId id="{1FF6BEE4-C16E-4CC7-B024-3518619EE09D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0"/>
          </a:xfrm>
          <a:prstGeom prst="line">
            <a:avLst/>
          </a:prstGeom>
          <a:noFill/>
          <a:ln w="9525">
            <a:solidFill>
              <a:srgbClr val="D7DFE7"/>
            </a:solidFill>
          </a:ln>
        </p:spPr>
      </p:sp>
      <p:sp>
        <p:nvSpPr>
          <p:cNvPr id="19" name="">
            <a:extLst>
              <a:ext uri="{FF2B5EF4-FFF2-40B4-BE49-F238E27FC236}">
                <ns2:creationId id="{2EA49ECF-BF33-48DB-9C55-05DE38166E4A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952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数据来源：附件A01的08_组合筛选；附件A02第4、6页；附件A03第2页。Gamma前沿为0.5pp全网格未舍入值计算。</a:t>
            </a:r>
          </a:p>
        </p:txBody>
      </p:sp>
      <p:sp>
        <p:nvSpPr>
          <p:cNvPr id="20" name="">
            <a:extLst>
              <a:ext uri="{FF2B5EF4-FFF2-40B4-BE49-F238E27FC236}">
                <ns2:creationId id="{92BF5A7A-9809-461E-A771-BE68D7D792AF}"/>
              </a:ext>
            </a:extLst>
          </p:cNvPr>
          <p:cNvSpPr>
            <a:spLocks noGrp="1"/>
          </p:cNvSpPr>
          <p:nvPr/>
        </p:nvSpPr>
        <p:spPr>
          <a:xfrm>
            <a:off x="10191750" y="6543675"/>
            <a:ext cx="13906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TASK 190492  |  9</a:t>
            </a:r>
          </a:p>
        </p:txBody>
      </p:sp>
    </p:spTree>
    <p:extLst>
      <p:ext uri="{BB962C8B-B14F-4D97-AF65-F5344CB8AC3E}">
        <ns5:creationId val="68674327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46615423-802F-45F4-B485-A6F542FE9B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48000" cy="95250"/>
          </a:xfrm>
          <a:prstGeom prst="rect">
            <a:avLst/>
          </a:prstGeom>
          <a:solidFill>
            <a:srgbClr val="2BA4B4"/>
          </a:solidFill>
          <a:ln w="0">
            <a:noFill/>
          </a:ln>
        </p:spPr>
      </p:sp>
      <p:sp>
        <p:nvSpPr>
          <p:cNvPr id="2" name="">
            <a:extLst>
              <a:ext uri="{FF2B5EF4-FFF2-40B4-BE49-F238E27FC236}">
                <ns2:creationId id="{B825A0EF-9851-4D34-AB05-6C826FDDF891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144000" cy="95250"/>
          </a:xfrm>
          <a:prstGeom prst="rect">
            <a:avLst/>
          </a:prstGeom>
          <a:solidFill>
            <a:srgbClr val="13283F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DF6D324F-4CE2-46A8-B1CF-E2270B7A96E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639B"/>
                </a:solidFill>
                <a:latin typeface="Microsoft YaHei"/>
                <a:ea typeface="Microsoft YaHei"/>
                <a:cs typeface="Microsoft YaHei"/>
              </a:rPr>
              <a:t>10  ACTION THRESHOLDS</a:t>
            </a:r>
          </a:p>
        </p:txBody>
      </p:sp>
      <p:sp>
        <p:nvSpPr>
          <p:cNvPr id="4" name="">
            <a:extLst>
              <a:ext uri="{FF2B5EF4-FFF2-40B4-BE49-F238E27FC236}">
                <ns2:creationId id="{A0D0F0E9-DE5E-4803-B6A2-B3EE18A51A6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83F"/>
                </a:solidFill>
                <a:latin typeface="Microsoft YaHei"/>
                <a:ea typeface="Microsoft YaHei"/>
                <a:cs typeface="Microsoft YaHei"/>
              </a:rPr>
              <a:t>执行边界：固定行动与资本代码映射</a:t>
            </a:r>
          </a:p>
        </p:txBody>
      </p:sp>
      <p:sp>
        <p:nvSpPr>
          <p:cNvPr id="5" name="">
            <a:extLst>
              <a:ext uri="{FF2B5EF4-FFF2-40B4-BE49-F238E27FC236}">
                <ns2:creationId id="{CF32402B-8820-4D3F-83E6-978196E08EED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P^rob只改变资本代码，盈利与资产质量仍命中F3和A3；固定动作必须逐字来自附件。</a:t>
            </a:r>
          </a:p>
        </p:txBody>
      </p:sp>
      <p:sp>
        <p:nvSpPr>
          <p:cNvPr id="6" name="">
            <a:extLst>
              <a:ext uri="{FF2B5EF4-FFF2-40B4-BE49-F238E27FC236}">
                <ns2:creationId id="{52B99A5E-93C0-4D5A-BE55-F01FF0D45043}"/>
              </a:ext>
            </a:extLst>
          </p:cNvPr>
          <p:cNvSpPr>
            <a:spLocks noGrp="1"/>
          </p:cNvSpPr>
          <p:nvPr/>
        </p:nvSpPr>
        <p:spPr>
          <a:xfrm>
            <a:off x="10906125" y="342900"/>
            <a:ext cx="6953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  <p:graphicFrame>
        <p:nvGraphicFramePr>
          <p:cNvPr id="21" name="Table_Page10_Audit_1" descr="执行行动表：P0与P^rob资本代码，以及F3、A3、C2固定行动、责任部门和时限，来源A02第2至3页。"/>
          <p:cNvGraphicFramePr/>
          <p:nvPr/>
        </p:nvGraphicFramePr>
        <p:xfrm>
          <a:off x="609600" y="1676400"/>
          <a:ext cx="10972800" cy="1162050"/>
        </p:xfrm>
        <a:graphic>
          <a:graphicData uri="http://schemas.openxmlformats.org/drawingml/2006/table">
            <a:tbl>
              <a:tblPr/>
              <a:tblGrid>
                <a:gridCol w="1428750"/>
                <a:gridCol w="1143000"/>
                <a:gridCol w="1428750"/>
                <a:gridCol w="1809750"/>
                <a:gridCol w="2000250"/>
                <a:gridCol w="3162300"/>
              </a:tblGrid>
              <a:tr h="3873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重度方案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ΔNIM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名义 / 鲁棒CET1率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命中代码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资本含义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P0原结构</a:t>
                      </a:r>
                    </a:p>
                  </a:txBody>
                  <a:tcPr marL="76200" marR="76200" marT="38100" marB="3810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-20bp</a:t>
                      </a:r>
                    </a:p>
                  </a:txBody>
                  <a:tcPr marL="76200" marR="76200" marT="38100" marB="3810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90.9293bp</a:t>
                      </a:r>
                    </a:p>
                  </a:txBody>
                  <a:tcPr marL="76200" marR="76200" marT="38100" marB="3810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11.3915925% / —</a:t>
                      </a:r>
                    </a:p>
                  </a:txBody>
                  <a:tcPr marL="76200" marR="76200" marT="38100" marB="3810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F3 + A3 + C3</a:t>
                      </a:r>
                    </a:p>
                  </a:txBody>
                  <a:tcPr marL="76200" marR="76200" marT="38100" marB="3810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含集中度附加后跌破11.50%</a:t>
                      </a:r>
                    </a:p>
                  </a:txBody>
                  <a:tcPr marL="76200" marR="76200" marT="38100" marB="38100" anchor="ctr">
                    <a:solidFill>
                      <a:srgbClr val="FCEBEB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P^rob｜Gamma=2</a:t>
                      </a:r>
                    </a:p>
                  </a:txBody>
                  <a:tcPr marL="76200" marR="76200" marT="38100" marB="3810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-20bp</a:t>
                      </a:r>
                    </a:p>
                  </a:txBody>
                  <a:tcPr marL="76200" marR="76200" marT="38100" marB="3810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90.929309bp</a:t>
                      </a:r>
                    </a:p>
                  </a:txBody>
                  <a:tcPr marL="76200" marR="76200" marT="38100" marB="3810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11.5155238% / 11.5000533%</a:t>
                      </a:r>
                    </a:p>
                  </a:txBody>
                  <a:tcPr marL="76200" marR="76200" marT="38100" marB="3810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F3 + A3 + C2</a:t>
                      </a:r>
                    </a:p>
                  </a:txBody>
                  <a:tcPr marL="76200" marR="76200" marT="38100" marB="3810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鲁棒余量仅0.005333bp</a:t>
                      </a:r>
                    </a:p>
                  </a:txBody>
                  <a:tcPr marL="76200" marR="76200" marT="38100" marB="38100" anchor="ctr">
                    <a:solidFill>
                      <a:srgbClr val="FFF3E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_Page10_Audit_2" descr="执行行动表：P0与P^rob资本代码，以及F3、A3、C2固定行动、责任部门和时限，来源A02第2至3页。"/>
          <p:cNvGraphicFramePr/>
          <p:nvPr/>
        </p:nvGraphicFramePr>
        <p:xfrm>
          <a:off x="609600" y="3086100"/>
          <a:ext cx="10972800" cy="2324100"/>
        </p:xfrm>
        <a:graphic>
          <a:graphicData uri="http://schemas.openxmlformats.org/drawingml/2006/table">
            <a:tbl>
              <a:tblPr/>
              <a:tblGrid>
                <a:gridCol w="952500"/>
                <a:gridCol w="1600200"/>
                <a:gridCol w="5219700"/>
                <a:gridCol w="2095500"/>
                <a:gridCol w="1104900"/>
              </a:tblGrid>
              <a:tr h="5810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P^rob代码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触发条件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固定行动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时限</a:t>
                      </a:r>
                    </a:p>
                  </a:txBody>
                  <a:tcPr marL="76200" marR="76200" marT="38100" marB="38100" anchor="ctr">
                    <a:solidFill>
                      <a:srgbClr val="13283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F3</a:t>
                      </a:r>
                    </a:p>
                  </a:txBody>
                  <a:tcPr marL="76200" marR="76200" marT="38100" marB="3810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ΔNIM≤-20bp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下调年度净利息收入预算；逐产品重定价并冻结低于风险调整后收益门槛的新增投放。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财务会计部 / 资产负债管理部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10日内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A3</a:t>
                      </a:r>
                    </a:p>
                  </a:txBody>
                  <a:tcPr marL="76200" marR="76200" marT="38100" marB="38100" anchor="ctr"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q&gt;80bp</a:t>
                      </a:r>
                    </a:p>
                  </a:txBody>
                  <a:tcPr marL="76200" marR="76200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暂停扩大高迁徙零售客群；启动专项催收与重估，逐产品重算拨备并提交风险处置方案。</a:t>
                      </a:r>
                    </a:p>
                  </a:txBody>
                  <a:tcPr marL="76200" marR="76200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风险管理部 / 零售信贷部</a:t>
                      </a:r>
                    </a:p>
                  </a:txBody>
                  <a:tcPr marL="76200" marR="76200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5日启动，30日闭环</a:t>
                      </a:r>
                    </a:p>
                  </a:txBody>
                  <a:tcPr marL="76200" marR="76200" marT="38100" marB="38100" anchor="ctr">
                    <a:solidFill>
                      <a:srgbClr val="EEF1F4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</a:t>
                      </a:r>
                    </a:p>
                  </a:txBody>
                  <a:tcPr marL="76200" marR="76200" marT="38100" marB="38100" anchor="ctr"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11.50%≤r&lt;11.75%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将贷款增长设为条件性上限；优先低RWA业务，资本缓冲恢复至11.75%后再扩张。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资本管理部 / 公司金融部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62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15日内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56DC4115-177E-49DC-BE9B-3207246F6CD3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13283F"/>
          </a:solidFill>
          <a:ln w="0">
            <a:solidFill>
              <a:srgbClr val="13283F"/>
            </a:solidFill>
          </a:ln>
        </p:spPr>
      </p:sp>
      <p:sp>
        <p:nvSpPr>
          <p:cNvPr id="10" name="">
            <a:extLst>
              <a:ext uri="{FF2B5EF4-FFF2-40B4-BE49-F238E27FC236}">
                <ns2:creationId id="{0CF66D1A-2D0B-40D9-BC56-4DC9FFDEFD77}"/>
              </a:ext>
            </a:extLst>
          </p:cNvPr>
          <p:cNvSpPr>
            <a:spLocks noGrp="1"/>
          </p:cNvSpPr>
          <p:nvPr/>
        </p:nvSpPr>
        <p:spPr>
          <a:xfrm>
            <a:off x="800100" y="5753100"/>
            <a:ext cx="6858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A4B4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11" name="">
            <a:extLst>
              <a:ext uri="{FF2B5EF4-FFF2-40B4-BE49-F238E27FC236}">
                <ns2:creationId id="{A299934E-C09E-4750-A399-2D572579E771}"/>
              </a:ext>
            </a:extLst>
          </p:cNvPr>
          <p:cNvSpPr>
            <a:spLocks noGrp="1"/>
          </p:cNvSpPr>
          <p:nvPr/>
        </p:nvSpPr>
        <p:spPr>
          <a:xfrm>
            <a:off x="1543050" y="5695950"/>
            <a:ext cx="9810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P^rob仅是8%的技术性条件上限，必须同步执行F3+A3+C2；在资本缓冲恢复至11.75%前，不得扩张高RWA投放。</a:t>
            </a:r>
          </a:p>
        </p:txBody>
      </p:sp>
      <p:sp>
        <p:nvSpPr>
          <p:cNvPr id="12" name="">
            <a:extLst>
              <a:ext uri="{FF2B5EF4-FFF2-40B4-BE49-F238E27FC236}">
                <ns2:creationId id="{71FD1DA0-E1AE-42A8-9035-AE95D204A3F8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10972800" cy="0"/>
          </a:xfrm>
          <a:prstGeom prst="line">
            <a:avLst/>
          </a:prstGeom>
          <a:noFill/>
          <a:ln w="9525">
            <a:solidFill>
              <a:srgbClr val="D7DFE7"/>
            </a:solidFill>
          </a:ln>
        </p:spPr>
      </p:sp>
      <p:sp>
        <p:nvSpPr>
          <p:cNvPr id="13" name="">
            <a:extLst>
              <a:ext uri="{FF2B5EF4-FFF2-40B4-BE49-F238E27FC236}">
                <ns2:creationId id="{913D8F07-44E6-42E4-9A78-BC821C63AC38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952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数据来源：附件A01的07至08工作表；附件A02第2至3、6页；附件A03第2页。底线、预算、代码和固定行动库均为案例假设。</a:t>
            </a:r>
          </a:p>
        </p:txBody>
      </p:sp>
      <p:sp>
        <p:nvSpPr>
          <p:cNvPr id="14" name="">
            <a:extLst>
              <a:ext uri="{FF2B5EF4-FFF2-40B4-BE49-F238E27FC236}">
                <ns2:creationId id="{0BCE4AA7-2E1A-4723-95FC-A97CC12F6F17}"/>
              </a:ext>
            </a:extLst>
          </p:cNvPr>
          <p:cNvSpPr>
            <a:spLocks noGrp="1"/>
          </p:cNvSpPr>
          <p:nvPr/>
        </p:nvSpPr>
        <p:spPr>
          <a:xfrm>
            <a:off x="10191750" y="6543675"/>
            <a:ext cx="13906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8"/>
                </a:solidFill>
                <a:latin typeface="Microsoft YaHei"/>
                <a:ea typeface="Microsoft YaHei"/>
                <a:cs typeface="Microsoft YaHei"/>
              </a:rPr>
              <a:t>TASK 190492  |  10</a:t>
            </a:r>
          </a:p>
        </p:txBody>
      </p:sp>
    </p:spTree>
    <p:extLst>
      <p:ext uri="{BB962C8B-B14F-4D97-AF65-F5344CB8AC3E}">
        <ns3:creationId val="1523074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2026-09-11T12:12:04.0760000Z</dcterms:created>
  <dcterms:modified xsi:type="dcterms:W3CDTF">2026-09-11T12:12:04.0760000Z</dcterms:modified>
</coreProperties>
</file>